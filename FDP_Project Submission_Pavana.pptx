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83" r:id="rId3"/>
    <p:sldId id="257" r:id="rId4"/>
    <p:sldId id="282" r:id="rId6"/>
    <p:sldId id="285" r:id="rId7"/>
    <p:sldId id="294" r:id="rId8"/>
    <p:sldId id="278" r:id="rId9"/>
    <p:sldId id="264" r:id="rId10"/>
    <p:sldId id="291" r:id="rId11"/>
    <p:sldId id="292" r:id="rId12"/>
    <p:sldId id="293" r:id="rId13"/>
    <p:sldId id="286" r:id="rId14"/>
    <p:sldId id="287" r:id="rId15"/>
    <p:sldId id="280" r:id="rId16"/>
    <p:sldId id="288" r:id="rId17"/>
    <p:sldId id="289"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gridCol w="2443374"/>
                <a:gridCol w="2443374"/>
                <a:gridCol w="2443374"/>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891">
                <a:tc>
                  <a:txBody>
                    <a:bodyPr/>
                    <a:lstStyle/>
                    <a:p>
                      <a:pPr marL="0" marR="0" lvl="0" indent="0" algn="l" rtl="0">
                        <a:spcBef>
                          <a:spcPts val="0"/>
                        </a:spcBef>
                        <a:spcAft>
                          <a:spcPts val="0"/>
                        </a:spcAft>
                        <a:buNone/>
                      </a:pPr>
                      <a:r>
                        <a:rPr lang="en-US"/>
                        <a:t>Dr Pavana H</a:t>
                      </a:r>
                      <a:endParaRPr lang="en-US"/>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a:t>pavana62@gmail.com</a:t>
                      </a:r>
                      <a:endParaRPr lang="en-US"/>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a:t>9916741952</a:t>
                      </a:r>
                      <a:endParaRPr lang="en-US"/>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4" name="TextBox 3"/>
          <p:cNvSpPr txBox="1"/>
          <p:nvPr/>
        </p:nvSpPr>
        <p:spPr>
          <a:xfrm>
            <a:off x="1206164" y="1460724"/>
            <a:ext cx="10280254" cy="460375"/>
          </a:xfrm>
          <a:prstGeom prst="rect">
            <a:avLst/>
          </a:prstGeom>
          <a:noFill/>
        </p:spPr>
        <p:txBody>
          <a:bodyPr wrap="square" rtlCol="0">
            <a:spAutoFit/>
          </a:bodyPr>
          <a:lstStyle/>
          <a:p>
            <a:r>
              <a:rPr lang="en-US" sz="2400" b="1"/>
              <a:t>Domain of  Project – </a:t>
            </a:r>
            <a:r>
              <a:rPr lang="en-US" altLang="en-GB" sz="2400" b="1"/>
              <a:t>Legal Technology</a:t>
            </a:r>
            <a:endParaRPr lang="en-US" altLang="en-GB" sz="2400" b="1"/>
          </a:p>
        </p:txBody>
      </p:sp>
      <p:sp>
        <p:nvSpPr>
          <p:cNvPr id="7" name="TextBox 6"/>
          <p:cNvSpPr txBox="1"/>
          <p:nvPr/>
        </p:nvSpPr>
        <p:spPr>
          <a:xfrm>
            <a:off x="1206162" y="551965"/>
            <a:ext cx="9581177" cy="460375"/>
          </a:xfrm>
          <a:prstGeom prst="rect">
            <a:avLst/>
          </a:prstGeom>
          <a:noFill/>
        </p:spPr>
        <p:txBody>
          <a:bodyPr wrap="square" rtlCol="0">
            <a:spAutoFit/>
          </a:bodyPr>
          <a:lstStyle/>
          <a:p>
            <a:r>
              <a:rPr lang="en-US" sz="2400" b="1"/>
              <a:t>Project Tile – AI Legal Aid Multi-Agent System</a:t>
            </a:r>
            <a:endParaRPr lang="en-US" sz="2400" b="1"/>
          </a:p>
        </p:txBody>
      </p:sp>
      <p:pic>
        <p:nvPicPr>
          <p:cNvPr id="2" name="Picture 1" descr="Screenshot 2026-07-16 145042"/>
          <p:cNvPicPr>
            <a:picLocks noChangeAspect="1"/>
          </p:cNvPicPr>
          <p:nvPr/>
        </p:nvPicPr>
        <p:blipFill>
          <a:blip r:embed="rId1"/>
          <a:stretch>
            <a:fillRect/>
          </a:stretch>
        </p:blipFill>
        <p:spPr>
          <a:xfrm>
            <a:off x="3733800" y="3657600"/>
            <a:ext cx="1325245" cy="104584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5046345"/>
          </a:xfrm>
          <a:prstGeom prst="rect">
            <a:avLst/>
          </a:prstGeom>
          <a:noFill/>
        </p:spPr>
        <p:txBody>
          <a:bodyPr wrap="square" rtlCol="0">
            <a:spAutoFit/>
          </a:bodyPr>
          <a:lstStyle/>
          <a:p>
            <a:pPr fontAlgn="base"/>
            <a:r>
              <a:rPr lang="en-US" b="1"/>
              <a:t>Problem Statement : </a:t>
            </a:r>
            <a:r>
              <a:rPr lang="en-US" altLang="en-GB" b="1"/>
              <a:t>AI Legal Aid Multi-Agent System</a:t>
            </a:r>
            <a:endParaRPr lang="en-US" altLang="en-GB" b="1"/>
          </a:p>
          <a:p>
            <a:pPr fontAlgn="base"/>
            <a:endParaRPr lang="en-US" altLang="en-GB" b="1"/>
          </a:p>
          <a:p>
            <a:pPr fontAlgn="base"/>
            <a:r>
              <a:rPr lang="en-US" b="1"/>
              <a:t>The Challenge</a:t>
            </a:r>
            <a:r>
              <a:rPr lang="en-US"/>
              <a:t> </a:t>
            </a:r>
            <a:endParaRPr lang="en-US"/>
          </a:p>
          <a:p>
            <a:pPr fontAlgn="base"/>
            <a:r>
              <a:rPr lang="en-US" altLang="en-GB"/>
              <a:t>Access to legal advice is often expensive, time-consuming, and complex. Individuals and small businesses struggle to understand contracts, rights, and compliance due to scattered resources and legal jargon. Traditional legal aid systems are limited by availability of experts and lack of real-time support.</a:t>
            </a:r>
            <a:endParaRPr lang="en-US" altLang="en-GB"/>
          </a:p>
          <a:p>
            <a:pPr fontAlgn="base"/>
            <a:endParaRPr lang="en-US" altLang="en-GB"/>
          </a:p>
          <a:p>
            <a:pPr fontAlgn="base"/>
            <a:r>
              <a:rPr lang="en-US" b="1"/>
              <a:t>The Objective</a:t>
            </a:r>
            <a:r>
              <a:rPr lang="en-US"/>
              <a:t> </a:t>
            </a:r>
            <a:endParaRPr lang="en-US"/>
          </a:p>
          <a:p>
            <a:pPr fontAlgn="base"/>
            <a:r>
              <a:rPr lang="en-US" altLang="en-GB"/>
              <a:t>Build an AI-powered Multi-Agent Legal Aid System that can:</a:t>
            </a:r>
            <a:endParaRPr lang="en-US" altLang="en-GB"/>
          </a:p>
          <a:p>
            <a:pPr fontAlgn="base"/>
            <a:r>
              <a:rPr lang="en-US" altLang="en-GB"/>
              <a:t>1.Legal Information Retrieval (RAG) – Use Retrieval-Augmented Generation to extract and summarize relevant laws, precedents, and compliance rules from large legal corpora.</a:t>
            </a:r>
            <a:endParaRPr lang="en-US" altLang="en-GB"/>
          </a:p>
          <a:p>
            <a:pPr fontAlgn="base"/>
            <a:r>
              <a:rPr lang="en-US" altLang="en-GB"/>
              <a:t>2.Document Parsing &amp; Analysis – Automatically analyze contracts, policies, and notices to highlight key clauses, obligations, and potential risks.</a:t>
            </a:r>
            <a:endParaRPr lang="en-US" altLang="en-GB"/>
          </a:p>
          <a:p>
            <a:pPr fontAlgn="base"/>
            <a:r>
              <a:rPr lang="en-US" altLang="en-GB"/>
              <a:t>3.Conversational Legal Assistant – Provide empathetic, easy-to-understand explanations of legal concepts through natural dialogue (with disclaimers: not a substitute for a lawyer).</a:t>
            </a:r>
            <a:endParaRPr lang="en-US" altLang="en-GB"/>
          </a:p>
          <a:p>
            <a:pPr fontAlgn="base"/>
            <a:r>
              <a:rPr lang="en-US" altLang="en-GB"/>
              <a:t>4.Specialized Multi-Agents –</a:t>
            </a:r>
            <a:endParaRPr lang="en-US" altLang="en-GB"/>
          </a:p>
          <a:p>
            <a:pPr fontAlgn="base"/>
            <a:r>
              <a:rPr lang="en-US" altLang="en-GB"/>
              <a:t>•Contract Reviewer Agent: Flag risks and inconsistencies.</a:t>
            </a:r>
            <a:endParaRPr lang="en-US" altLang="en-GB"/>
          </a:p>
          <a:p>
            <a:pPr fontAlgn="base"/>
            <a:r>
              <a:rPr lang="en-US" altLang="en-GB"/>
              <a:t>•Compliance Checker Agent: Verify adherence to rules/regulations.</a:t>
            </a:r>
            <a:endParaRPr lang="en-US" altLang="en-GB"/>
          </a:p>
          <a:p>
            <a:pPr fontAlgn="base"/>
            <a:r>
              <a:rPr lang="en-US" altLang="en-GB"/>
              <a:t>•Q&amp;A RAG Agent: Answer user-specific queries.</a:t>
            </a:r>
            <a:endParaRPr lang="en-US" altLang="en-GB"/>
          </a:p>
          <a:p>
            <a:pPr fontAlgn="base"/>
            <a:r>
              <a:rPr lang="en-US" altLang="en-GB"/>
              <a:t>•Case Research Agent: Fetch relevant judgments or case summaries.</a:t>
            </a:r>
            <a:endParaRPr lang="en-US" altLang="en-GB"/>
          </a:p>
          <a:p>
            <a:pPr fontAlgn="base"/>
            <a:endParaRPr lang="en-US" altLang="en-GB"/>
          </a:p>
          <a:p>
            <a:pPr fontAlgn="base"/>
            <a:endParaRPr lang="en-US" altLang="en-GB"/>
          </a:p>
          <a:p>
            <a:endParaRPr lang="en-IN"/>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455468" y="1168656"/>
            <a:ext cx="10607040" cy="4246245"/>
          </a:xfrm>
          <a:prstGeom prst="rect">
            <a:avLst/>
          </a:prstGeom>
          <a:noFill/>
        </p:spPr>
        <p:txBody>
          <a:bodyPr wrap="square" rtlCol="0">
            <a:spAutoFit/>
          </a:bodyPr>
          <a:lstStyle/>
          <a:p>
            <a:pPr fontAlgn="base"/>
            <a:endParaRPr lang="en-US" b="1"/>
          </a:p>
          <a:p>
            <a:r>
              <a:rPr lang="en-US" altLang="en-GB" sz="1600"/>
              <a:t>Step 1: User Input</a:t>
            </a:r>
            <a:endParaRPr lang="en-US" altLang="en-GB" sz="1600"/>
          </a:p>
          <a:p>
            <a:r>
              <a:rPr lang="en-US" altLang="en-GB" sz="1600"/>
              <a:t>User enters a legal query or uploads a legal document (contract, policy, notice, etc.) through the dashboard.</a:t>
            </a:r>
            <a:endParaRPr lang="en-US" altLang="en-GB" sz="1600"/>
          </a:p>
          <a:p>
            <a:r>
              <a:rPr lang="en-US" altLang="en-GB" sz="1600"/>
              <a:t>Step 2: Query &amp; Document Processing</a:t>
            </a:r>
            <a:endParaRPr lang="en-US" altLang="en-GB" sz="1600"/>
          </a:p>
          <a:p>
            <a:r>
              <a:rPr lang="en-US" altLang="en-GB" sz="1600"/>
              <a:t>The system identifies the user's intent and extracts text from uploaded documents for analysis.</a:t>
            </a:r>
            <a:endParaRPr lang="en-US" altLang="en-GB" sz="1600"/>
          </a:p>
          <a:p>
            <a:r>
              <a:rPr lang="en-US" altLang="en-GB" sz="1600"/>
              <a:t>Step 3: RAG-Based Legal Information Retrieval</a:t>
            </a:r>
            <a:endParaRPr lang="en-US" altLang="en-GB" sz="1600"/>
          </a:p>
          <a:p>
            <a:r>
              <a:rPr lang="en-US" altLang="en-GB" sz="1600"/>
              <a:t>The Q&amp;A RAG Agent retrieves relevant laws, regulations, precedents, and compliance rules from legal databases.</a:t>
            </a:r>
            <a:endParaRPr lang="en-US" altLang="en-GB" sz="1600"/>
          </a:p>
          <a:p>
            <a:r>
              <a:rPr lang="en-US" altLang="en-GB" sz="1600"/>
              <a:t>Generates accurate, source-based legal information.</a:t>
            </a:r>
            <a:endParaRPr lang="en-US" altLang="en-GB" sz="1600"/>
          </a:p>
          <a:p>
            <a:r>
              <a:rPr lang="en-US" altLang="en-GB" sz="1600"/>
              <a:t>Step 4: Document Analysis</a:t>
            </a:r>
            <a:endParaRPr lang="en-US" altLang="en-GB" sz="1600"/>
          </a:p>
          <a:p>
            <a:r>
              <a:rPr lang="en-US" altLang="en-GB" sz="1600"/>
              <a:t>The Document Parsing Agent extracts key clauses, obligations, deadlines, penalties, and important terms.</a:t>
            </a:r>
            <a:endParaRPr lang="en-US" altLang="en-GB" sz="1600"/>
          </a:p>
          <a:p>
            <a:r>
              <a:rPr lang="en-US" altLang="en-GB" sz="1600"/>
              <a:t>Identifies potential legal risks and inconsistencies.</a:t>
            </a:r>
            <a:endParaRPr lang="en-US" altLang="en-GB" sz="1600"/>
          </a:p>
          <a:p>
            <a:r>
              <a:rPr lang="en-US" altLang="en-GB" sz="1600"/>
              <a:t>Step 5: Specialized Multi-Agent Processing</a:t>
            </a:r>
            <a:endParaRPr lang="en-US" altLang="en-GB" sz="1600"/>
          </a:p>
          <a:p>
            <a:r>
              <a:rPr lang="en-US" altLang="en-GB" sz="1600"/>
              <a:t>Contract Reviewer Agent: Reviews contracts and flags risky or missing clauses.</a:t>
            </a:r>
            <a:endParaRPr lang="en-US" altLang="en-GB" sz="1600"/>
          </a:p>
          <a:p>
            <a:r>
              <a:rPr lang="en-US" altLang="en-GB" sz="1600"/>
              <a:t>Compliance Checker Agent: Verifies compliance with applicable laws and regulations.</a:t>
            </a:r>
            <a:endParaRPr lang="en-US" altLang="en-GB" sz="1600"/>
          </a:p>
          <a:p>
            <a:r>
              <a:rPr lang="en-US" altLang="en-GB" sz="1600"/>
              <a:t>Case Research Agent: Retrieves relevant judgments and case summaries.</a:t>
            </a:r>
            <a:endParaRPr lang="en-US" altLang="en-GB" sz="1600"/>
          </a:p>
          <a:p>
            <a:r>
              <a:rPr lang="en-US" altLang="en-GB" sz="1600"/>
              <a:t>Q&amp;A RAG Agent: Answers user-specific legal questions using retrieved legal knowledge.</a:t>
            </a:r>
            <a:endParaRPr lang="en-US" altLang="en-GB" sz="1600"/>
          </a:p>
          <a:p>
            <a:r>
              <a:rPr lang="en-US" altLang="en-GB" sz="1600"/>
              <a:t>red format.</a:t>
            </a:r>
            <a:endParaRPr lang="en-US" altLang="en-GB" sz="160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455468" y="1168656"/>
            <a:ext cx="10607040" cy="3753485"/>
          </a:xfrm>
          <a:prstGeom prst="rect">
            <a:avLst/>
          </a:prstGeom>
          <a:noFill/>
        </p:spPr>
        <p:txBody>
          <a:bodyPr wrap="square" rtlCol="0">
            <a:spAutoFit/>
          </a:bodyPr>
          <a:lstStyle/>
          <a:p>
            <a:pPr fontAlgn="base"/>
            <a:endParaRPr lang="en-US" altLang="en-GB"/>
          </a:p>
          <a:p>
            <a:r>
              <a:rPr lang="en-US" altLang="en-GB" sz="1600"/>
              <a:t>Step 7: Conversational Legal Assistance</a:t>
            </a:r>
            <a:endParaRPr lang="en-US" altLang="en-GB" sz="1600"/>
          </a:p>
          <a:p>
            <a:r>
              <a:rPr lang="en-US" altLang="en-GB" sz="1600"/>
              <a:t>The AI assistant explains legal findings in simple, easy-to-understand language.</a:t>
            </a:r>
            <a:endParaRPr lang="en-US" altLang="en-GB" sz="1600"/>
          </a:p>
          <a:p>
            <a:r>
              <a:rPr lang="en-US" altLang="en-GB" sz="1600"/>
              <a:t>Displays a disclaimer that the advice is for informational purposes and not a substitute for a lawyer.</a:t>
            </a:r>
            <a:endParaRPr lang="en-US" altLang="en-GB" sz="1600"/>
          </a:p>
          <a:p>
            <a:r>
              <a:rPr lang="en-US" altLang="en-GB" sz="1600"/>
              <a:t>Step 8: Dashboard &amp; Recommendations</a:t>
            </a:r>
            <a:endParaRPr lang="en-US" altLang="en-GB" sz="1600"/>
          </a:p>
          <a:p>
            <a:r>
              <a:rPr lang="en-US" altLang="en-GB" sz="1600"/>
              <a:t>The dashboard presents:</a:t>
            </a:r>
            <a:endParaRPr lang="en-US" altLang="en-GB" sz="1600"/>
          </a:p>
          <a:p>
            <a:r>
              <a:rPr lang="en-US" altLang="en-GB" sz="1600"/>
              <a:t>Legal summary</a:t>
            </a:r>
            <a:endParaRPr lang="en-US" altLang="en-GB" sz="1600"/>
          </a:p>
          <a:p>
            <a:r>
              <a:rPr lang="en-US" altLang="en-GB" sz="1600"/>
              <a:t>Document highlights</a:t>
            </a:r>
            <a:endParaRPr lang="en-US" altLang="en-GB" sz="1600"/>
          </a:p>
          <a:p>
            <a:r>
              <a:rPr lang="en-US" altLang="en-GB" sz="1600"/>
              <a:t>Risk assessment</a:t>
            </a:r>
            <a:endParaRPr lang="en-US" altLang="en-GB" sz="1600"/>
          </a:p>
          <a:p>
            <a:r>
              <a:rPr lang="en-US" altLang="en-GB" sz="1600"/>
              <a:t>Compliance status</a:t>
            </a:r>
            <a:endParaRPr lang="en-US" altLang="en-GB" sz="1600"/>
          </a:p>
          <a:p>
            <a:r>
              <a:rPr lang="en-US" altLang="en-GB" sz="1600"/>
              <a:t>Relevant case references</a:t>
            </a:r>
            <a:endParaRPr lang="en-US" altLang="en-GB" sz="1600"/>
          </a:p>
          <a:p>
            <a:r>
              <a:rPr lang="en-US" altLang="en-GB" sz="1600"/>
              <a:t>Actionable recommendations and next steps</a:t>
            </a:r>
            <a:endParaRPr lang="en-US" altLang="en-GB" sz="1600"/>
          </a:p>
          <a:p>
            <a:r>
              <a:rPr lang="en-US" altLang="en-GB" sz="1600"/>
              <a:t>Step 9: Final Output</a:t>
            </a:r>
            <a:endParaRPr lang="en-US" altLang="en-GB" sz="1600"/>
          </a:p>
          <a:p>
            <a:r>
              <a:rPr lang="en-US" altLang="en-GB" sz="1600"/>
              <a:t>The user receives a comprehensive legal report with document analysis, cited legal sources, compliance results, and practical guidance in a clear and structured format.</a:t>
            </a:r>
            <a:endParaRPr lang="en-US" altLang="en-GB" sz="160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p:cNvSpPr txBox="1"/>
          <p:nvPr/>
        </p:nvSpPr>
        <p:spPr>
          <a:xfrm>
            <a:off x="777240" y="1207008"/>
            <a:ext cx="10515600" cy="4399915"/>
          </a:xfrm>
          <a:prstGeom prst="rect">
            <a:avLst/>
          </a:prstGeom>
          <a:noFill/>
        </p:spPr>
        <p:txBody>
          <a:bodyPr wrap="square" rtlCol="0">
            <a:spAutoFit/>
          </a:bodyPr>
          <a:lstStyle/>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a:t>
            </a:r>
            <a:r>
              <a:rPr lang="en-US" sz="1800" b="1" err="1"/>
              <a:t>Grainte</a:t>
            </a:r>
            <a:r>
              <a:rPr lang="en-US" sz="1800" b="1"/>
              <a:t> model </a:t>
            </a:r>
            <a:r>
              <a:rPr lang="en-US" sz="1800"/>
              <a:t>-  for </a:t>
            </a:r>
            <a:r>
              <a:rPr lang="en-US" sz="1800" err="1"/>
              <a:t>eg</a:t>
            </a:r>
            <a:r>
              <a:rPr lang="en-US" sz="1800"/>
              <a:t> – ibm-granite-3-2-8b – For natural language understanding, reasoning, and personalization</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1"/>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p:cNvSpPr txBox="1"/>
          <p:nvPr/>
        </p:nvSpPr>
        <p:spPr>
          <a:xfrm>
            <a:off x="621792" y="1167493"/>
            <a:ext cx="7406640" cy="3107690"/>
          </a:xfrm>
          <a:prstGeom prst="rect">
            <a:avLst/>
          </a:prstGeom>
          <a:noFill/>
        </p:spPr>
        <p:txBody>
          <a:bodyPr wrap="square" rtlCol="0">
            <a:spAutoFit/>
          </a:bodyPr>
          <a:lstStyle/>
          <a:p>
            <a:r>
              <a:rPr lang="en-US" b="1"/>
              <a:t>Role of Agentic </a:t>
            </a:r>
            <a:r>
              <a:rPr lang="en-US" altLang="en-GB"/>
              <a:t>AI Legal Aid Multi-Agent System</a:t>
            </a:r>
            <a:endParaRPr lang="en-US" altLang="en-GB"/>
          </a:p>
          <a:p>
            <a:endParaRPr lang="en-US" altLang="en-GB"/>
          </a:p>
          <a:p>
            <a:pPr algn="just">
              <a:lnSpc>
                <a:spcPct val="150000"/>
              </a:lnSpc>
            </a:pPr>
            <a:r>
              <a:rPr lang="en-US" altLang="en-GB"/>
              <a:t>Agentic AI acts as the central coordinator of an AI Legal Aid Multi-Agent System, managing specialized AI agents to solve legal queries efficiently. It analyzes user requests, assigns tasks such as legal research, document analysis, risk assessment, and recommendation generation to the appropriate agents, and combines their outputs into a clear response. It also automates legal workflows, retrieves relevant legal information, personalizes assistance based on the user's situation, and monitors ongoing tasks. For complex or high-risk cases, it can escalate the matter to human legal professionals. Overall, Agentic AI improves the accuracy, efficiency, scalability, and accessibility of legal aid services.</a:t>
            </a:r>
            <a:endParaRPr lang="en-US" alt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2057477" y="133915"/>
            <a:ext cx="6444496" cy="704017"/>
          </a:xfrm>
          <a:prstGeom prst="rect">
            <a:avLst/>
          </a:prstGeom>
          <a:noFill/>
          <a:ln>
            <a:noFill/>
          </a:ln>
        </p:spPr>
        <p:txBody>
          <a:bodyPr spcFirstLastPara="1" wrap="square" lIns="0" tIns="0" rIns="0" bIns="0" anchor="t" anchorCtr="0">
            <a:noAutofit/>
          </a:bodyPr>
          <a:lstStyle/>
          <a:p>
            <a:pPr algn="ctr">
              <a:lnSpc>
                <a:spcPct val="157000"/>
              </a:lnSpc>
              <a:buClr>
                <a:srgbClr val="051D3A"/>
              </a:buClr>
              <a:buSzPts val="3500"/>
            </a:pPr>
            <a:r>
              <a:rPr lang="en-US" sz="2400" b="1">
                <a:sym typeface="Times New Roman" panose="02020603050405020304"/>
              </a:rPr>
              <a:t>Project Output Screen 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descr="Screenshot 2026-07-16 141852"/>
          <p:cNvPicPr>
            <a:picLocks noChangeAspect="1"/>
          </p:cNvPicPr>
          <p:nvPr/>
        </p:nvPicPr>
        <p:blipFill>
          <a:blip r:embed="rId1"/>
          <a:stretch>
            <a:fillRect/>
          </a:stretch>
        </p:blipFill>
        <p:spPr>
          <a:xfrm>
            <a:off x="609600" y="838200"/>
            <a:ext cx="10456545" cy="5194935"/>
          </a:xfrm>
          <a:prstGeom prst="rect">
            <a:avLst/>
          </a:prstGeom>
        </p:spPr>
      </p:pic>
      <p:sp>
        <p:nvSpPr>
          <p:cNvPr id="4" name="Text Box 3"/>
          <p:cNvSpPr txBox="1"/>
          <p:nvPr/>
        </p:nvSpPr>
        <p:spPr>
          <a:xfrm>
            <a:off x="6322060" y="479425"/>
            <a:ext cx="4064000" cy="306705"/>
          </a:xfrm>
          <a:prstGeom prst="rect">
            <a:avLst/>
          </a:prstGeom>
          <a:noFill/>
        </p:spPr>
        <p:txBody>
          <a:bodyPr wrap="square" rtlCol="0">
            <a:spAutoFit/>
          </a:bodyPr>
          <a:p>
            <a:endParaRPr lang="en-GB"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descr="Screenshot 2026-07-16 142247"/>
          <p:cNvPicPr>
            <a:picLocks noChangeAspect="1"/>
          </p:cNvPicPr>
          <p:nvPr/>
        </p:nvPicPr>
        <p:blipFill>
          <a:blip r:embed="rId1"/>
          <a:stretch>
            <a:fillRect/>
          </a:stretch>
        </p:blipFill>
        <p:spPr>
          <a:xfrm>
            <a:off x="1231265" y="566420"/>
            <a:ext cx="10205720" cy="58731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descr="Screenshot 2026-07-16 142638"/>
          <p:cNvPicPr>
            <a:picLocks noChangeAspect="1"/>
          </p:cNvPicPr>
          <p:nvPr/>
        </p:nvPicPr>
        <p:blipFill>
          <a:blip r:embed="rId1"/>
          <a:stretch>
            <a:fillRect/>
          </a:stretch>
        </p:blipFill>
        <p:spPr>
          <a:xfrm>
            <a:off x="59055" y="0"/>
            <a:ext cx="12122150" cy="66484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p:cNvSpPr txBox="1"/>
          <p:nvPr/>
        </p:nvSpPr>
        <p:spPr>
          <a:xfrm>
            <a:off x="777240" y="1207008"/>
            <a:ext cx="11301984" cy="4799965"/>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endParaRPr lang="en-IN" sz="1800"/>
          </a:p>
          <a:p>
            <a:endParaRPr lang="en-IN" sz="1800"/>
          </a:p>
          <a:p>
            <a:pPr algn="l">
              <a:lnSpc>
                <a:spcPct val="100000"/>
              </a:lnSpc>
              <a:buSzTx/>
              <a:buChar char="•"/>
            </a:pPr>
            <a:r>
              <a:rPr lang="en-US" altLang="en-GB"/>
              <a:t> </a:t>
            </a:r>
            <a:r>
              <a:rPr lang="en-IN" sz="1800"/>
              <a:t>Multi-Agent Collaboration: Specialized AI agents work together to analyze legal queries and verify results.</a:t>
            </a:r>
            <a:endParaRPr lang="en-IN" sz="1800"/>
          </a:p>
          <a:p>
            <a:pPr algn="l">
              <a:lnSpc>
                <a:spcPct val="100000"/>
              </a:lnSpc>
              <a:buSzTx/>
              <a:buChar char="•"/>
            </a:pPr>
            <a:r>
              <a:rPr lang="en-IN" sz="1800"/>
              <a:t>RAG-Based Legal Retrieval: Retrieves accurate legal information with supporting laws, regulations, and case references.</a:t>
            </a:r>
            <a:endParaRPr lang="en-IN" sz="1800"/>
          </a:p>
          <a:p>
            <a:pPr algn="l">
              <a:lnSpc>
                <a:spcPct val="100000"/>
              </a:lnSpc>
              <a:buSzTx/>
              <a:buChar char="•"/>
            </a:pPr>
            <a:r>
              <a:rPr lang="en-IN" sz="1800"/>
              <a:t>Legal Risk Scoring: Assesses contracts and legal situations with clear risk levels and explanations.</a:t>
            </a:r>
            <a:endParaRPr lang="en-IN" sz="1800"/>
          </a:p>
          <a:p>
            <a:pPr algn="l">
              <a:lnSpc>
                <a:spcPct val="100000"/>
              </a:lnSpc>
              <a:buSzTx/>
              <a:buChar char="•"/>
            </a:pPr>
            <a:r>
              <a:rPr lang="en-IN" sz="1800"/>
              <a:t>Plain-Language Explanations: Converts complex legal terminology into simple, user-friendly language.</a:t>
            </a:r>
            <a:endParaRPr lang="en-IN" sz="1800"/>
          </a:p>
          <a:p>
            <a:pPr algn="l">
              <a:lnSpc>
                <a:spcPct val="100000"/>
              </a:lnSpc>
              <a:buSzTx/>
              <a:buChar char="•"/>
            </a:pPr>
            <a:r>
              <a:rPr lang="en-IN" sz="1800"/>
              <a:t>What-If Scenario Analysis: Simulates different legal outcomes based on changes in contracts or situations.</a:t>
            </a:r>
            <a:endParaRPr lang="en-IN" sz="1800"/>
          </a:p>
          <a:p>
            <a:pPr algn="l">
              <a:lnSpc>
                <a:spcPct val="100000"/>
              </a:lnSpc>
              <a:buSzTx/>
              <a:buChar char="•"/>
            </a:pPr>
            <a:r>
              <a:rPr lang="en-IN" sz="1800"/>
              <a:t>Jurisdiction-Aware Guidance: Provides recommendations based on applicable local laws and regulations.</a:t>
            </a:r>
            <a:endParaRPr lang="en-IN" sz="1800"/>
          </a:p>
          <a:p>
            <a:pPr algn="l">
              <a:lnSpc>
                <a:spcPct val="100000"/>
              </a:lnSpc>
              <a:buSzTx/>
              <a:buChar char="•"/>
            </a:pPr>
            <a:r>
              <a:rPr lang="en-IN" sz="1800"/>
              <a:t>Explainable AI: Shows how each AI agent contributed to the final recommendation.</a:t>
            </a:r>
            <a:endParaRPr lang="en-IN" sz="1800"/>
          </a:p>
          <a:p>
            <a:pPr algn="l">
              <a:lnSpc>
                <a:spcPct val="100000"/>
              </a:lnSpc>
              <a:buSzTx/>
              <a:buChar char="•"/>
            </a:pPr>
            <a:r>
              <a:rPr lang="en-IN" sz="1800"/>
              <a:t>Interactive Dashboard: Presents document highlights, risk assessments, case insights, and actionable recommendations.</a:t>
            </a:r>
            <a:endParaRPr lang="en-IN" sz="1800"/>
          </a:p>
          <a:p>
            <a:pPr algn="l">
              <a:lnSpc>
                <a:spcPct val="100000"/>
              </a:lnSpc>
              <a:buSzTx/>
              <a:buChar char="•"/>
            </a:pPr>
            <a:r>
              <a:rPr lang="en-IN" sz="1800"/>
              <a:t>Human Lawyer Escalation: Refers complex or high-risk cases to legal professionals with a summarized case report.</a:t>
            </a:r>
            <a:endParaRPr lang="en-IN" sz="1800"/>
          </a:p>
          <a:p>
            <a:pPr algn="l">
              <a:lnSpc>
                <a:spcPct val="100000"/>
              </a:lnSpc>
              <a:buSzTx/>
              <a:buChar char="•"/>
            </a:pPr>
            <a:r>
              <a:rPr lang="en-IN" sz="1800"/>
              <a:t>Accessible and Transparent: Makes legal assistance faster, more reliable, and easier for individuals and small businesses to understand.</a:t>
            </a:r>
            <a:endParaRPr lang="en-IN"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Git Hub Link</a:t>
            </a:r>
            <a:endParaRPr sz="2400" b="1">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 Box 1"/>
          <p:cNvSpPr txBox="1"/>
          <p:nvPr/>
        </p:nvSpPr>
        <p:spPr>
          <a:xfrm>
            <a:off x="859790" y="2286000"/>
            <a:ext cx="9279890" cy="583565"/>
          </a:xfrm>
          <a:prstGeom prst="rect">
            <a:avLst/>
          </a:prstGeom>
          <a:noFill/>
        </p:spPr>
        <p:txBody>
          <a:bodyPr wrap="square" rtlCol="0" anchor="t">
            <a:spAutoFit/>
          </a:bodyPr>
          <a:p>
            <a:r>
              <a:rPr lang="en-US" altLang="en-GB" sz="3200"/>
              <a:t>https://github.com/drpavana2025-ctrl/IBM_project</a:t>
            </a:r>
            <a:endParaRPr lang="en-GB" altLang="en-US" sz="3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Future Scope </a:t>
            </a:r>
            <a:endParaRPr sz="2400" b="1">
              <a:sym typeface="Times New Roman" panose="02020603050405020304"/>
            </a:endParaRPr>
          </a:p>
        </p:txBody>
      </p:sp>
      <p:sp>
        <p:nvSpPr>
          <p:cNvPr id="279" name="Google Shape;279;p18"/>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342900" marR="0" lvl="0" indent="-342900" algn="l" rtl="0">
              <a:lnSpc>
                <a:spcPct val="162000"/>
              </a:lnSpc>
              <a:spcBef>
                <a:spcPts val="0"/>
              </a:spcBef>
              <a:spcAft>
                <a:spcPts val="0"/>
              </a:spcAft>
              <a:buClr>
                <a:srgbClr val="2B3541"/>
              </a:buClr>
              <a:buSzPts val="1850"/>
              <a:buFont typeface="Arial" panose="020B0604020202020204" pitchFamily="34" charset="0"/>
              <a:buChar char="•"/>
            </a:pPr>
            <a:r>
              <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Integrate with government legal portals and court databases for real-time legal information.</a:t>
            </a:r>
            <a:endPar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62000"/>
              </a:lnSpc>
              <a:spcBef>
                <a:spcPts val="0"/>
              </a:spcBef>
              <a:spcAft>
                <a:spcPts val="0"/>
              </a:spcAft>
              <a:buClr>
                <a:srgbClr val="2B3541"/>
              </a:buClr>
              <a:buSzPts val="1850"/>
              <a:buFont typeface="Arial" panose="020B0604020202020204" pitchFamily="34" charset="0"/>
              <a:buChar char="•"/>
            </a:pPr>
            <a:r>
              <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Expand support to multiple jurisdictions and regional languages.</a:t>
            </a:r>
            <a:endPar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62000"/>
              </a:lnSpc>
              <a:spcBef>
                <a:spcPts val="0"/>
              </a:spcBef>
              <a:spcAft>
                <a:spcPts val="0"/>
              </a:spcAft>
              <a:buClr>
                <a:srgbClr val="2B3541"/>
              </a:buClr>
              <a:buSzPts val="1850"/>
              <a:buFont typeface="Arial" panose="020B0604020202020204" pitchFamily="34" charset="0"/>
              <a:buChar char="•"/>
            </a:pPr>
            <a:r>
              <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Introduce voice-based legal assistance for improved accessibility.</a:t>
            </a:r>
            <a:endPar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62000"/>
              </a:lnSpc>
              <a:spcBef>
                <a:spcPts val="0"/>
              </a:spcBef>
              <a:spcAft>
                <a:spcPts val="0"/>
              </a:spcAft>
              <a:buClr>
                <a:srgbClr val="2B3541"/>
              </a:buClr>
              <a:buSzPts val="1850"/>
              <a:buFont typeface="Arial" panose="020B0604020202020204" pitchFamily="34" charset="0"/>
              <a:buChar char="•"/>
            </a:pPr>
            <a:r>
              <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Enable predictive legal analytics for case outcome and risk estimation.</a:t>
            </a:r>
            <a:endPar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62000"/>
              </a:lnSpc>
              <a:spcBef>
                <a:spcPts val="0"/>
              </a:spcBef>
              <a:spcAft>
                <a:spcPts val="0"/>
              </a:spcAft>
              <a:buClr>
                <a:srgbClr val="2B3541"/>
              </a:buClr>
              <a:buSzPts val="1850"/>
              <a:buFont typeface="Arial" panose="020B0604020202020204" pitchFamily="34" charset="0"/>
              <a:buChar char="•"/>
            </a:pPr>
            <a:r>
              <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Automate legal document generation and compliance reporting.</a:t>
            </a:r>
            <a:endPar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62000"/>
              </a:lnSpc>
              <a:spcBef>
                <a:spcPts val="0"/>
              </a:spcBef>
              <a:spcAft>
                <a:spcPts val="0"/>
              </a:spcAft>
              <a:buClr>
                <a:srgbClr val="2B3541"/>
              </a:buClr>
              <a:buSzPts val="1850"/>
              <a:buFont typeface="Arial" panose="020B0604020202020204" pitchFamily="34" charset="0"/>
              <a:buChar char="•"/>
            </a:pPr>
            <a:r>
              <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Provide real-time updates on legal changes and regulations.</a:t>
            </a:r>
            <a:endPar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62000"/>
              </a:lnSpc>
              <a:spcBef>
                <a:spcPts val="0"/>
              </a:spcBef>
              <a:spcAft>
                <a:spcPts val="0"/>
              </a:spcAft>
              <a:buClr>
                <a:srgbClr val="2B3541"/>
              </a:buClr>
              <a:buSzPts val="1850"/>
              <a:buFont typeface="Arial" panose="020B0604020202020204" pitchFamily="34" charset="0"/>
              <a:buChar char="•"/>
            </a:pPr>
            <a:r>
              <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Strengthen collaboration between AI agents and legal professionals.</a:t>
            </a:r>
            <a:endPar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62000"/>
              </a:lnSpc>
              <a:spcBef>
                <a:spcPts val="0"/>
              </a:spcBef>
              <a:spcAft>
                <a:spcPts val="0"/>
              </a:spcAft>
              <a:buClr>
                <a:srgbClr val="2B3541"/>
              </a:buClr>
              <a:buSzPts val="1850"/>
              <a:buFont typeface="Arial" panose="020B0604020202020204" pitchFamily="34" charset="0"/>
              <a:buChar char="•"/>
            </a:pPr>
            <a:r>
              <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Develop a mobile application for on-the-go legal assistance.</a:t>
            </a:r>
            <a:endPar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62000"/>
              </a:lnSpc>
              <a:spcBef>
                <a:spcPts val="0"/>
              </a:spcBef>
              <a:spcAft>
                <a:spcPts val="0"/>
              </a:spcAft>
              <a:buClr>
                <a:srgbClr val="2B3541"/>
              </a:buClr>
              <a:buSzPts val="1850"/>
              <a:buFont typeface="Arial" panose="020B0604020202020204" pitchFamily="34" charset="0"/>
              <a:buChar char="•"/>
            </a:pPr>
            <a:r>
              <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Enhance security and privacy for sensitive legal data.</a:t>
            </a:r>
            <a:endPar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62000"/>
              </a:lnSpc>
              <a:spcBef>
                <a:spcPts val="0"/>
              </a:spcBef>
              <a:spcAft>
                <a:spcPts val="0"/>
              </a:spcAft>
              <a:buClr>
                <a:srgbClr val="2B3541"/>
              </a:buClr>
              <a:buSzPts val="1850"/>
              <a:buFont typeface="Arial" panose="020B0604020202020204" pitchFamily="34" charset="0"/>
              <a:buChar char="•"/>
            </a:pPr>
            <a:r>
              <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Add court case tracking and e-signature integration for end-to-end legal support.</a:t>
            </a:r>
            <a:endParaRPr lang="en-US" altLang="en-GB"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endParaRPr lang="en-US" sz="2400" b="1"/>
          </a:p>
          <a:p>
            <a:pPr algn="ctr"/>
            <a:endParaRPr lang="en-US"/>
          </a:p>
        </p:txBody>
      </p:sp>
      <p:sp>
        <p:nvSpPr>
          <p:cNvPr id="3" name="TextBox 2"/>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a:t>Please  add your credly certificate </a:t>
            </a:r>
            <a:endParaRPr lang="en-US" sz="2800" b="1"/>
          </a:p>
        </p:txBody>
      </p:sp>
      <p:pic>
        <p:nvPicPr>
          <p:cNvPr id="2" name="Picture 1"/>
          <p:cNvPicPr>
            <a:picLocks noChangeAspect="1"/>
          </p:cNvPicPr>
          <p:nvPr/>
        </p:nvPicPr>
        <p:blipFill>
          <a:blip r:embed="rId1"/>
          <a:stretch>
            <a:fillRect/>
          </a:stretch>
        </p:blipFill>
        <p:spPr>
          <a:xfrm>
            <a:off x="1219200" y="1295400"/>
            <a:ext cx="8721090" cy="49974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sp>
        <p:nvSpPr>
          <p:cNvPr id="6" name="TextBox 5"/>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a:t>Add your IBM BOB Certificate</a:t>
            </a:r>
            <a:endParaRPr lang="en-US" sz="2000" b="1"/>
          </a:p>
        </p:txBody>
      </p:sp>
      <p:pic>
        <p:nvPicPr>
          <p:cNvPr id="2" name="Picture 1"/>
          <p:cNvPicPr>
            <a:picLocks noChangeAspect="1"/>
          </p:cNvPicPr>
          <p:nvPr/>
        </p:nvPicPr>
        <p:blipFill>
          <a:blip r:embed="rId1"/>
          <a:stretch>
            <a:fillRect/>
          </a:stretch>
        </p:blipFill>
        <p:spPr>
          <a:xfrm>
            <a:off x="1903095" y="1429385"/>
            <a:ext cx="9688830" cy="47301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1"/>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6604</Words>
  <Application>WPS Presentation</Application>
  <PresentationFormat>Widescreen</PresentationFormat>
  <Paragraphs>171</Paragraphs>
  <Slides>16</Slides>
  <Notes>13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Arial</vt:lpstr>
      <vt:lpstr>SimSun</vt:lpstr>
      <vt:lpstr>Wingdings</vt:lpstr>
      <vt:lpstr>Arial</vt:lpstr>
      <vt:lpstr>Calibri</vt:lpstr>
      <vt:lpstr>Times New Roman</vt:lpstr>
      <vt:lpstr>Microsoft YaHei</vt:lpstr>
      <vt:lpstr>Arial Unicode MS</vt:lpstr>
      <vt:lpstr>Office Theme</vt:lpstr>
      <vt:lpstr>IBM University Engagement Project Submission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KSSEM</cp:lastModifiedBy>
  <cp:revision>13</cp:revision>
  <dcterms:created xsi:type="dcterms:W3CDTF">2025-07-08T05:06:00Z</dcterms:created>
  <dcterms:modified xsi:type="dcterms:W3CDTF">2026-07-16T09:30:24Z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4906B0E011B2431B9816AC4A8F1FD6CA_13</vt:lpwstr>
  </property>
  <property fmtid="{D5CDD505-2E9C-101B-9397-08002B2CF9AE}" pid="3" name="KSOProductBuildVer">
    <vt:lpwstr>2057-12.2.0.23206</vt:lpwstr>
  </property>
</Properties>
</file>