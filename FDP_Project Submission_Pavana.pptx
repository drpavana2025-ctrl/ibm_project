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5"/>
  </p:notesMasterIdLst>
  <p:sldIdLst>
    <p:sldId id="283" r:id="rId3"/>
    <p:sldId id="257" r:id="rId4"/>
    <p:sldId id="282" r:id="rId6"/>
    <p:sldId id="285" r:id="rId7"/>
    <p:sldId id="278" r:id="rId8"/>
    <p:sldId id="264" r:id="rId9"/>
    <p:sldId id="291" r:id="rId10"/>
    <p:sldId id="292" r:id="rId11"/>
    <p:sldId id="293" r:id="rId12"/>
    <p:sldId id="286" r:id="rId13"/>
    <p:sldId id="287" r:id="rId14"/>
    <p:sldId id="280" r:id="rId15"/>
    <p:sldId id="288" r:id="rId16"/>
    <p:sldId id="289" r:id="rId17"/>
    <p:sldId id="276" r:id="rId1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AAD8F4D-43EB-41E5-8A38-28AB6DFB1B60}" styleName="Table_0">
    <a:wholeTbl>
      <a:tcTxStyle>
        <a:font>
          <a:latin typeface="Arial"/>
          <a:ea typeface="Arial"/>
          <a:cs typeface="Arial"/>
        </a:font>
        <a:srgbClr val="000000"/>
      </a:tcTxStyle>
      <a:tcStyle>
        <a:tcBdr/>
      </a:tcStyle>
    </a:wholeTbl>
    <a:band1H>
      <a:tcStyle>
        <a:tcBdr/>
      </a:tcStyle>
    </a:band1H>
    <a:band2H>
      <a:tcStyle>
        <a:tcBdr/>
      </a:tcStyle>
    </a:band2H>
    <a:band1V>
      <a:tcStyle>
        <a:tcBdr/>
      </a:tcStyle>
    </a:band1V>
    <a:band2V>
      <a:tcStyle>
        <a:tcBdr/>
      </a:tcStyle>
    </a:band2V>
    <a:lastCol>
      <a:tcStyle>
        <a:tcBdr/>
      </a:tcStyle>
    </a:lastCol>
    <a:firstCol>
      <a:tcStyle>
        <a:tcBdr/>
      </a:tcStyle>
    </a:firstCol>
    <a:lastRow>
      <a:tcStyle>
        <a:tcBdr/>
      </a:tcStyle>
    </a:lastRow>
    <a:seCell>
      <a:tcStyle>
        <a:tcBdr/>
      </a:tcStyle>
    </a:seCell>
    <a:swCell>
      <a:tcStyle>
        <a:tcBdr/>
      </a:tcStyle>
    </a:swCell>
    <a:firstRow>
      <a:tcStyle>
        <a:tcBdr/>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notesMaster" Target="notesMasters/notesMaster1.xml"/><Relationship Id="rId4" Type="http://schemas.openxmlformats.org/officeDocument/2006/relationships/slide" Target="slides/slide2.xml"/><Relationship Id="rId3" Type="http://schemas.openxmlformats.org/officeDocument/2006/relationships/slide" Target="slides/slide1.xml"/><Relationship Id="rId21" Type="http://schemas.openxmlformats.org/officeDocument/2006/relationships/tableStyles" Target="tableStyles.xml"/><Relationship Id="rId20" Type="http://schemas.openxmlformats.org/officeDocument/2006/relationships/viewProps" Target="viewProps.xml"/><Relationship Id="rId2" Type="http://schemas.openxmlformats.org/officeDocument/2006/relationships/theme" Target="theme/theme1.xml"/><Relationship Id="rId19" Type="http://schemas.openxmlformats.org/officeDocument/2006/relationships/presProps" Target="presProps.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02" name="Google Shape;10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00"/>
        <p:cNvGrpSpPr/>
        <p:nvPr/>
      </p:nvGrpSpPr>
      <p:grpSpPr>
        <a:xfrm>
          <a:off x="0" y="0"/>
          <a:ext cx="0" cy="0"/>
          <a:chOff x="0" y="0"/>
          <a:chExt cx="0" cy="0"/>
        </a:xfrm>
      </p:grpSpPr>
      <p:sp>
        <p:nvSpPr>
          <p:cNvPr id="101" name="Google Shape;101;p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02" name="Google Shape;102;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97"/>
        <p:cNvGrpSpPr/>
        <p:nvPr/>
      </p:nvGrpSpPr>
      <p:grpSpPr>
        <a:xfrm>
          <a:off x="0" y="0"/>
          <a:ext cx="0" cy="0"/>
          <a:chOff x="0" y="0"/>
          <a:chExt cx="0" cy="0"/>
        </a:xfrm>
      </p:grpSpPr>
      <p:sp>
        <p:nvSpPr>
          <p:cNvPr id="198" name="Google Shape;198;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99" name="Google Shape;19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197"/>
        <p:cNvGrpSpPr/>
        <p:nvPr/>
      </p:nvGrpSpPr>
      <p:grpSpPr>
        <a:xfrm>
          <a:off x="0" y="0"/>
          <a:ext cx="0" cy="0"/>
          <a:chOff x="0" y="0"/>
          <a:chExt cx="0" cy="0"/>
        </a:xfrm>
      </p:grpSpPr>
      <p:sp>
        <p:nvSpPr>
          <p:cNvPr id="198" name="Google Shape;198;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199" name="Google Shape;199;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271"/>
        <p:cNvGrpSpPr/>
        <p:nvPr/>
      </p:nvGrpSpPr>
      <p:grpSpPr>
        <a:xfrm>
          <a:off x="0" y="0"/>
          <a:ext cx="0" cy="0"/>
          <a:chOff x="0" y="0"/>
          <a:chExt cx="0" cy="0"/>
        </a:xfrm>
      </p:grpSpPr>
      <p:sp>
        <p:nvSpPr>
          <p:cNvPr id="272" name="Google Shape;272;p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273" name="Google Shape;273;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panose="020F0502020204030204"/>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panose="020F0502020204030204"/>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panose="020F0502020204030204"/>
              <a:buNone/>
              <a:defRPr sz="4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panose="020B0604020202020204"/>
              <a:buChar char="•"/>
              <a:defRPr sz="2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1pPr>
            <a:lvl2pPr marL="914400" marR="0" lvl="1" indent="-381000" algn="l" rtl="0">
              <a:lnSpc>
                <a:spcPct val="90000"/>
              </a:lnSpc>
              <a:spcBef>
                <a:spcPts val="500"/>
              </a:spcBef>
              <a:spcAft>
                <a:spcPts val="0"/>
              </a:spcAft>
              <a:buClr>
                <a:schemeClr val="dk1"/>
              </a:buClr>
              <a:buSzPts val="2400"/>
              <a:buFont typeface="Arial" panose="020B0604020202020204"/>
              <a:buChar char="•"/>
              <a:defRPr sz="24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L="1371600" marR="0" lvl="2" indent="-355600" algn="l" rtl="0">
              <a:lnSpc>
                <a:spcPct val="90000"/>
              </a:lnSpc>
              <a:spcBef>
                <a:spcPts val="500"/>
              </a:spcBef>
              <a:spcAft>
                <a:spcPts val="0"/>
              </a:spcAft>
              <a:buClr>
                <a:schemeClr val="dk1"/>
              </a:buClr>
              <a:buSzPts val="2000"/>
              <a:buFont typeface="Arial" panose="020B0604020202020204"/>
              <a:buChar char="•"/>
              <a:defRPr sz="20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L="1828800" marR="0" lvl="3"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L="2286000" marR="0" lvl="4"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L="2743200" marR="0" lvl="5"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L="3200400" marR="0" lvl="6"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L="3657600" marR="0" lvl="7"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L="4114800" marR="0" lvl="8" indent="-342900" algn="l" rtl="0">
              <a:lnSpc>
                <a:spcPct val="90000"/>
              </a:lnSpc>
              <a:spcBef>
                <a:spcPts val="500"/>
              </a:spcBef>
              <a:spcAft>
                <a:spcPts val="0"/>
              </a:spcAft>
              <a:buClr>
                <a:schemeClr val="dk1"/>
              </a:buClr>
              <a:buSzPts val="1800"/>
              <a:buFont typeface="Arial" panose="020B0604020202020204"/>
              <a:buChar char="•"/>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R="0" lvl="1"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2pPr>
            <a:lvl3pPr marR="0" lvl="2"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3pPr>
            <a:lvl4pPr marR="0" lvl="3"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4pPr>
            <a:lvl5pPr marR="0" lvl="4"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5pPr>
            <a:lvl6pPr marR="0" lvl="5"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6pPr>
            <a:lvl7pPr marR="0" lvl="6"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7pPr>
            <a:lvl8pPr marR="0" lvl="7"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8pPr>
            <a:lvl9pPr marR="0" lvl="8" algn="l" rtl="0">
              <a:spcBef>
                <a:spcPts val="0"/>
              </a:spcBef>
              <a:spcAft>
                <a:spcPts val="0"/>
              </a:spcAft>
              <a:buSzPts val="1400"/>
              <a:buNone/>
              <a:defRPr sz="1800" b="0" i="0" u="none" strike="noStrike" cap="none">
                <a:solidFill>
                  <a:schemeClr val="dk1"/>
                </a:solidFill>
                <a:latin typeface="Calibri" panose="020F0502020204030204"/>
                <a:ea typeface="Calibri" panose="020F0502020204030204"/>
                <a:cs typeface="Calibri" panose="020F0502020204030204"/>
                <a:sym typeface="Calibri" panose="020F0502020204030204"/>
              </a:defRPr>
            </a:lvl9pPr>
          </a:lstStyle>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1pPr>
            <a:lvl2pPr marL="0" marR="0" lvl="1"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2pPr>
            <a:lvl3pPr marL="0" marR="0" lvl="2"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3pPr>
            <a:lvl4pPr marL="0" marR="0" lvl="3"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4pPr>
            <a:lvl5pPr marL="0" marR="0" lvl="4"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5pPr>
            <a:lvl6pPr marL="0" marR="0" lvl="5"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6pPr>
            <a:lvl7pPr marL="0" marR="0" lvl="6"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7pPr>
            <a:lvl8pPr marL="0" marR="0" lvl="7"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8pPr>
            <a:lvl9pPr marL="0" marR="0" lvl="8" indent="0" algn="r" rtl="0">
              <a:spcBef>
                <a:spcPts val="0"/>
              </a:spcBef>
              <a:buNone/>
              <a:defRPr sz="1200" b="0" i="0" u="none" strike="noStrike" cap="none">
                <a:solidFill>
                  <a:srgbClr val="888888"/>
                </a:solidFill>
                <a:latin typeface="Calibri" panose="020F0502020204030204"/>
                <a:ea typeface="Calibri" panose="020F0502020204030204"/>
                <a:cs typeface="Calibri" panose="020F0502020204030204"/>
                <a:sym typeface="Calibri" panose="020F0502020204030204"/>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1pPr>
      <a:lvl2pPr marR="0" lvl="1"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2pPr>
      <a:lvl3pPr marR="0" lvl="2"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3pPr>
      <a:lvl4pPr marR="0" lvl="3"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4pPr>
      <a:lvl5pPr marR="0" lvl="4"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5pPr>
      <a:lvl6pPr marR="0" lvl="5"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6pPr>
      <a:lvl7pPr marR="0" lvl="6"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7pPr>
      <a:lvl8pPr marR="0" lvl="7"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8pPr>
      <a:lvl9pPr marR="0" lvl="8" algn="l" rtl="0">
        <a:lnSpc>
          <a:spcPct val="100000"/>
        </a:lnSpc>
        <a:spcBef>
          <a:spcPts val="0"/>
        </a:spcBef>
        <a:spcAft>
          <a:spcPts val="0"/>
        </a:spcAft>
        <a:buClr>
          <a:srgbClr val="000000"/>
        </a:buClr>
        <a:buFont typeface="Arial" panose="020B0604020202020204"/>
        <a:defRPr sz="1400" b="0" i="0" u="none" strike="noStrike" cap="none">
          <a:solidFill>
            <a:srgbClr val="000000"/>
          </a:solidFill>
          <a:latin typeface="Arial" panose="020B0604020202020204"/>
          <a:ea typeface="Arial" panose="020B0604020202020204"/>
          <a:cs typeface="Arial" panose="020B0604020202020204"/>
          <a:sym typeface="Arial" panose="020B0604020202020204"/>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1.xml"/><Relationship Id="rId1"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1.xml"/><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5.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6.png"/></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1.xml"/><Relationship Id="rId1"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p:cNvSpPr>
            <a:spLocks noGrp="1"/>
          </p:cNvSpPr>
          <p:nvPr>
            <p:ph type="body" idx="1"/>
          </p:nvPr>
        </p:nvSpPr>
        <p:spPr>
          <a:xfrm>
            <a:off x="1014730" y="3903663"/>
            <a:ext cx="10515600" cy="1500187"/>
          </a:xfrm>
        </p:spPr>
        <p:txBody>
          <a:bodyPr/>
          <a:lstStyle/>
          <a:p>
            <a:pPr algn="ctr"/>
            <a:r>
              <a:rPr lang="en-US" b="1" i="1"/>
              <a:t>“Exploring the Power of Agentic AI with IBM Granite and </a:t>
            </a:r>
            <a:r>
              <a:rPr lang="en-US" b="1" i="1" err="1"/>
              <a:t>LangFlow</a:t>
            </a:r>
            <a:r>
              <a:rPr lang="en-US" b="1" i="1"/>
              <a:t>”</a:t>
            </a:r>
            <a:endParaRPr lang="en-IN"/>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panose="020F0502020204030204"/>
              <a:buNone/>
            </a:pPr>
            <a:endParaRPr sz="1500" b="0" i="0" u="none" strike="noStrike" cap="none">
              <a:solidFill>
                <a:schemeClr val="dk1"/>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panose="02020603050405020304"/>
              <a:buNone/>
            </a:pPr>
            <a:endParaRPr sz="3200" b="1" i="0" u="none" strike="noStrike" cap="none">
              <a:solidFill>
                <a:srgbClr val="002060"/>
              </a:solidFill>
              <a:latin typeface="Times New Roman" panose="02020603050405020304"/>
              <a:ea typeface="Times New Roman" panose="02020603050405020304"/>
              <a:cs typeface="Times New Roman" panose="02020603050405020304"/>
              <a:sym typeface="Times New Roman" panose="02020603050405020304"/>
            </a:endParaRPr>
          </a:p>
        </p:txBody>
      </p:sp>
      <p:graphicFrame>
        <p:nvGraphicFramePr>
          <p:cNvPr id="96" name="Google Shape;96;p2"/>
          <p:cNvGraphicFramePr/>
          <p:nvPr/>
        </p:nvGraphicFramePr>
        <p:xfrm>
          <a:off x="1299257" y="2600315"/>
          <a:ext cx="9394989" cy="2167128"/>
        </p:xfrm>
        <a:graphic>
          <a:graphicData uri="http://schemas.openxmlformats.org/drawingml/2006/table">
            <a:tbl>
              <a:tblPr>
                <a:noFill/>
                <a:tableStyleId>{0AAD8F4D-43EB-41E5-8A38-28AB6DFB1B60}</a:tableStyleId>
              </a:tblPr>
              <a:tblGrid>
                <a:gridCol w="2064867"/>
                <a:gridCol w="2443374"/>
                <a:gridCol w="2443374"/>
                <a:gridCol w="2443374"/>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panose="020B0604020202020204"/>
                        <a:buNone/>
                      </a:pPr>
                      <a:r>
                        <a:rPr lang="en-US" sz="1800" b="0" i="0" u="none" strike="noStrike" cap="none">
                          <a:solidFill>
                            <a:srgbClr val="000000"/>
                          </a:solidFill>
                          <a:latin typeface="Arial" panose="020B0604020202020204"/>
                          <a:ea typeface="Calibri" panose="020F0502020204030204"/>
                          <a:cs typeface="Arial" panose="020B0604020202020204"/>
                          <a:sym typeface="Calibri" panose="020F0502020204030204"/>
                        </a:rPr>
                        <a:t>Email ID </a:t>
                      </a:r>
                      <a:endParaRPr sz="1800" b="0" i="0" u="none" strike="noStrike" cap="none">
                        <a:solidFill>
                          <a:srgbClr val="000000"/>
                        </a:solidFill>
                        <a:latin typeface="Arial" panose="020B0604020202020204"/>
                        <a:cs typeface="Arial" panose="020B0604020202020204"/>
                        <a:sym typeface="Arial" panose="020B0604020202020204"/>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panose="020F0502020204030204"/>
                        <a:buNone/>
                      </a:pPr>
                      <a:r>
                        <a:rPr lang="en-US" sz="1800" b="0" i="0" u="none" strike="noStrike" cap="none">
                          <a:solidFill>
                            <a:srgbClr val="000000"/>
                          </a:solidFill>
                          <a:latin typeface="Arial" panose="020B0604020202020204"/>
                          <a:ea typeface="Calibri" panose="020F0502020204030204"/>
                          <a:cs typeface="Arial" panose="020B0604020202020204"/>
                          <a:sym typeface="Calibri" panose="020F0502020204030204"/>
                        </a:rPr>
                        <a:t>Mobile number</a:t>
                      </a:r>
                      <a:endParaRPr sz="1800" b="0" i="0" u="none" strike="noStrike" cap="none">
                        <a:solidFill>
                          <a:srgbClr val="000000"/>
                        </a:solidFill>
                        <a:latin typeface="Arial" panose="020B0604020202020204"/>
                        <a:cs typeface="Arial" panose="020B0604020202020204"/>
                        <a:sym typeface="Arial" panose="020B0604020202020204"/>
                      </a:endParaRPr>
                    </a:p>
                    <a:p>
                      <a:pPr marL="0" marR="0" lvl="0" indent="0" algn="ctr" rtl="0">
                        <a:lnSpc>
                          <a:spcPct val="100000"/>
                        </a:lnSpc>
                        <a:spcBef>
                          <a:spcPts val="0"/>
                        </a:spcBef>
                        <a:spcAft>
                          <a:spcPts val="0"/>
                        </a:spcAft>
                        <a:buClr>
                          <a:schemeClr val="lt1"/>
                        </a:buClr>
                        <a:buSzPts val="1800"/>
                        <a:buFont typeface="Calibri" panose="020F0502020204030204"/>
                        <a:buNone/>
                      </a:pPr>
                      <a:r>
                        <a:rPr lang="en-US" sz="1800" b="0" i="0" u="none" strike="noStrike" cap="none">
                          <a:solidFill>
                            <a:srgbClr val="000000"/>
                          </a:solidFill>
                          <a:latin typeface="Arial" panose="020B0604020202020204"/>
                          <a:ea typeface="Calibri" panose="020F0502020204030204"/>
                          <a:cs typeface="Arial" panose="020B0604020202020204"/>
                          <a:sym typeface="Calibri" panose="020F0502020204030204"/>
                        </a:rPr>
                        <a:t>[WhatsApp] </a:t>
                      </a:r>
                      <a:endParaRPr sz="1800" b="0" i="0" u="none" strike="noStrike" cap="none">
                        <a:solidFill>
                          <a:srgbClr val="000000"/>
                        </a:solidFill>
                        <a:latin typeface="Arial" panose="020B0604020202020204"/>
                        <a:cs typeface="Arial" panose="020B0604020202020204"/>
                        <a:sym typeface="Arial" panose="020B0604020202020204"/>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r>
              <a:tr h="1193891">
                <a:tc>
                  <a:txBody>
                    <a:bodyPr/>
                    <a:lstStyle/>
                    <a:p>
                      <a:pPr marL="0" marR="0" lvl="0" indent="0" algn="l" rtl="0">
                        <a:spcBef>
                          <a:spcPts val="0"/>
                        </a:spcBef>
                        <a:spcAft>
                          <a:spcPts val="0"/>
                        </a:spcAft>
                        <a:buNone/>
                      </a:pPr>
                      <a:r>
                        <a:rPr lang="en-US"/>
                        <a:t>Dr Pavana H</a:t>
                      </a:r>
                      <a:endParaRPr lang="en-US"/>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a:t>pavana62@gmail.com</a:t>
                      </a:r>
                      <a:endParaRPr lang="en-US"/>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US"/>
                        <a:t>9916741952</a:t>
                      </a:r>
                      <a:endParaRPr lang="en-US"/>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r>
            </a:tbl>
          </a:graphicData>
        </a:graphic>
      </p:graphicFrame>
      <p:sp>
        <p:nvSpPr>
          <p:cNvPr id="4" name="TextBox 3"/>
          <p:cNvSpPr txBox="1"/>
          <p:nvPr/>
        </p:nvSpPr>
        <p:spPr>
          <a:xfrm>
            <a:off x="1206164" y="1460724"/>
            <a:ext cx="10280254" cy="460375"/>
          </a:xfrm>
          <a:prstGeom prst="rect">
            <a:avLst/>
          </a:prstGeom>
          <a:noFill/>
        </p:spPr>
        <p:txBody>
          <a:bodyPr wrap="square" rtlCol="0">
            <a:spAutoFit/>
          </a:bodyPr>
          <a:lstStyle/>
          <a:p>
            <a:r>
              <a:rPr lang="en-US" sz="2400" b="1"/>
              <a:t>Domain of  Project – </a:t>
            </a:r>
            <a:r>
              <a:rPr lang="en-US" altLang="en-GB" sz="2400" b="1"/>
              <a:t>Legal Technology</a:t>
            </a:r>
            <a:endParaRPr lang="en-US" altLang="en-GB" sz="2400" b="1"/>
          </a:p>
        </p:txBody>
      </p:sp>
      <p:sp>
        <p:nvSpPr>
          <p:cNvPr id="7" name="TextBox 6"/>
          <p:cNvSpPr txBox="1"/>
          <p:nvPr/>
        </p:nvSpPr>
        <p:spPr>
          <a:xfrm>
            <a:off x="1206162" y="551965"/>
            <a:ext cx="9581177" cy="460375"/>
          </a:xfrm>
          <a:prstGeom prst="rect">
            <a:avLst/>
          </a:prstGeom>
          <a:noFill/>
        </p:spPr>
        <p:txBody>
          <a:bodyPr wrap="square" rtlCol="0">
            <a:spAutoFit/>
          </a:bodyPr>
          <a:lstStyle/>
          <a:p>
            <a:r>
              <a:rPr lang="en-US" sz="2400" b="1"/>
              <a:t>Project Tile – AI Legal Aid Multi-Agent System</a:t>
            </a:r>
            <a:endParaRPr lang="en-US" sz="2400" b="1"/>
          </a:p>
        </p:txBody>
      </p:sp>
      <p:pic>
        <p:nvPicPr>
          <p:cNvPr id="2" name="Picture 1" descr="Screenshot 2026-07-16 145042"/>
          <p:cNvPicPr>
            <a:picLocks noChangeAspect="1"/>
          </p:cNvPicPr>
          <p:nvPr/>
        </p:nvPicPr>
        <p:blipFill>
          <a:blip r:embed="rId1"/>
          <a:stretch>
            <a:fillRect/>
          </a:stretch>
        </p:blipFill>
        <p:spPr>
          <a:xfrm>
            <a:off x="3733800" y="3657600"/>
            <a:ext cx="1325245" cy="104584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2" name="TextBox 1"/>
          <p:cNvSpPr txBox="1"/>
          <p:nvPr/>
        </p:nvSpPr>
        <p:spPr>
          <a:xfrm>
            <a:off x="576072" y="1234440"/>
            <a:ext cx="10607040" cy="5046345"/>
          </a:xfrm>
          <a:prstGeom prst="rect">
            <a:avLst/>
          </a:prstGeom>
          <a:noFill/>
        </p:spPr>
        <p:txBody>
          <a:bodyPr wrap="square" rtlCol="0">
            <a:spAutoFit/>
          </a:bodyPr>
          <a:lstStyle/>
          <a:p>
            <a:pPr fontAlgn="base"/>
            <a:r>
              <a:rPr lang="en-US" b="1"/>
              <a:t>Problem Statement : </a:t>
            </a:r>
            <a:r>
              <a:rPr lang="en-US" altLang="en-GB" b="1"/>
              <a:t>AI Legal Aid Multi-Agent System</a:t>
            </a:r>
            <a:endParaRPr lang="en-US" altLang="en-GB" b="1"/>
          </a:p>
          <a:p>
            <a:pPr fontAlgn="base"/>
            <a:endParaRPr lang="en-US" altLang="en-GB" b="1"/>
          </a:p>
          <a:p>
            <a:pPr fontAlgn="base"/>
            <a:r>
              <a:rPr lang="en-US" b="1"/>
              <a:t>The Challenge</a:t>
            </a:r>
            <a:r>
              <a:rPr lang="en-US"/>
              <a:t> </a:t>
            </a:r>
            <a:endParaRPr lang="en-US"/>
          </a:p>
          <a:p>
            <a:pPr fontAlgn="base"/>
            <a:r>
              <a:rPr lang="en-US" altLang="en-GB"/>
              <a:t>Access to legal advice is often expensive, time-consuming, and complex. Individuals and small businesses struggle to understand contracts, rights, and compliance due to scattered resources and legal jargon. Traditional legal aid systems are limited by availability of experts and lack of real-time support.</a:t>
            </a:r>
            <a:endParaRPr lang="en-US" altLang="en-GB"/>
          </a:p>
          <a:p>
            <a:pPr fontAlgn="base"/>
            <a:endParaRPr lang="en-US" altLang="en-GB"/>
          </a:p>
          <a:p>
            <a:pPr fontAlgn="base"/>
            <a:r>
              <a:rPr lang="en-US" b="1"/>
              <a:t>The Objective</a:t>
            </a:r>
            <a:r>
              <a:rPr lang="en-US"/>
              <a:t> </a:t>
            </a:r>
            <a:endParaRPr lang="en-US"/>
          </a:p>
          <a:p>
            <a:pPr fontAlgn="base"/>
            <a:r>
              <a:rPr lang="en-US" altLang="en-GB"/>
              <a:t>Build an AI-powered Multi-Agent Legal Aid System that can:</a:t>
            </a:r>
            <a:endParaRPr lang="en-US" altLang="en-GB"/>
          </a:p>
          <a:p>
            <a:pPr fontAlgn="base"/>
            <a:r>
              <a:rPr lang="en-US" altLang="en-GB"/>
              <a:t>1.Legal Information Retrieval (RAG) – Use Retrieval-Augmented Generation to extract and summarize relevant laws, precedents, and compliance rules from large legal corpora.</a:t>
            </a:r>
            <a:endParaRPr lang="en-US" altLang="en-GB"/>
          </a:p>
          <a:p>
            <a:pPr fontAlgn="base"/>
            <a:r>
              <a:rPr lang="en-US" altLang="en-GB"/>
              <a:t>2.Document Parsing &amp; Analysis – Automatically analyze contracts, policies, and notices to highlight key clauses, obligations, and potential risks.</a:t>
            </a:r>
            <a:endParaRPr lang="en-US" altLang="en-GB"/>
          </a:p>
          <a:p>
            <a:pPr fontAlgn="base"/>
            <a:r>
              <a:rPr lang="en-US" altLang="en-GB"/>
              <a:t>3.Conversational Legal Assistant – Provide empathetic, easy-to-understand explanations of legal concepts through natural dialogue (with disclaimers: not a substitute for a lawyer).</a:t>
            </a:r>
            <a:endParaRPr lang="en-US" altLang="en-GB"/>
          </a:p>
          <a:p>
            <a:pPr fontAlgn="base"/>
            <a:r>
              <a:rPr lang="en-US" altLang="en-GB"/>
              <a:t>4.Specialized Multi-Agents –</a:t>
            </a:r>
            <a:endParaRPr lang="en-US" altLang="en-GB"/>
          </a:p>
          <a:p>
            <a:pPr fontAlgn="base"/>
            <a:r>
              <a:rPr lang="en-US" altLang="en-GB"/>
              <a:t>•Contract Reviewer Agent: Flag risks and inconsistencies.</a:t>
            </a:r>
            <a:endParaRPr lang="en-US" altLang="en-GB"/>
          </a:p>
          <a:p>
            <a:pPr fontAlgn="base"/>
            <a:r>
              <a:rPr lang="en-US" altLang="en-GB"/>
              <a:t>•Compliance Checker Agent: Verify adherence to rules/regulations.</a:t>
            </a:r>
            <a:endParaRPr lang="en-US" altLang="en-GB"/>
          </a:p>
          <a:p>
            <a:pPr fontAlgn="base"/>
            <a:r>
              <a:rPr lang="en-US" altLang="en-GB"/>
              <a:t>•Q&amp;A RAG Agent: Answer user-specific queries.</a:t>
            </a:r>
            <a:endParaRPr lang="en-US" altLang="en-GB"/>
          </a:p>
          <a:p>
            <a:pPr fontAlgn="base"/>
            <a:r>
              <a:rPr lang="en-US" altLang="en-GB"/>
              <a:t>•Case Research Agent: Fetch relevant judgments or case summaries.</a:t>
            </a:r>
            <a:endParaRPr lang="en-US" altLang="en-GB"/>
          </a:p>
          <a:p>
            <a:pPr fontAlgn="base"/>
            <a:endParaRPr lang="en-US" altLang="en-GB"/>
          </a:p>
          <a:p>
            <a:pPr fontAlgn="base"/>
            <a:endParaRPr lang="en-US" altLang="en-GB"/>
          </a:p>
          <a:p>
            <a:endParaRPr lang="en-IN"/>
          </a:p>
        </p:txBody>
      </p:sp>
      <p:sp>
        <p:nvSpPr>
          <p:cNvPr id="3" name="TextBox 2"/>
          <p:cNvSpPr txBox="1"/>
          <p:nvPr/>
        </p:nvSpPr>
        <p:spPr>
          <a:xfrm>
            <a:off x="576072" y="704088"/>
            <a:ext cx="7214616" cy="461665"/>
          </a:xfrm>
          <a:prstGeom prst="rect">
            <a:avLst/>
          </a:prstGeom>
          <a:noFill/>
        </p:spPr>
        <p:txBody>
          <a:bodyPr wrap="square" rtlCol="0">
            <a:spAutoFit/>
          </a:bodyPr>
          <a:lstStyle/>
          <a:p>
            <a:r>
              <a:rPr lang="en-US" sz="2400" b="1"/>
              <a:t>Problem Statement -</a:t>
            </a:r>
            <a:endParaRPr lang="en-IN" sz="2400" b="1"/>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2" name="TextBox 1"/>
          <p:cNvSpPr txBox="1"/>
          <p:nvPr/>
        </p:nvSpPr>
        <p:spPr>
          <a:xfrm>
            <a:off x="455468" y="1168656"/>
            <a:ext cx="10607040" cy="5046345"/>
          </a:xfrm>
          <a:prstGeom prst="rect">
            <a:avLst/>
          </a:prstGeom>
          <a:noFill/>
        </p:spPr>
        <p:txBody>
          <a:bodyPr wrap="square" rtlCol="0">
            <a:spAutoFit/>
          </a:bodyPr>
          <a:lstStyle/>
          <a:p>
            <a:pPr fontAlgn="base"/>
            <a:endParaRPr lang="en-US" b="1"/>
          </a:p>
          <a:p>
            <a:r>
              <a:rPr lang="en-US" altLang="en-GB"/>
              <a:t>The Challenge</a:t>
            </a:r>
            <a:endParaRPr lang="en-US" altLang="en-GB"/>
          </a:p>
          <a:p>
            <a:r>
              <a:rPr lang="en-US" altLang="en-GB"/>
              <a:t>Access to legal advice is often expensive, time-consuming, and complex. Individuals and small businesses struggle to understand contracts, rights, and compliance due to scattered resources and legal jargon. Traditional legal aid systems are limited by availability of experts and lack of real-time support.</a:t>
            </a:r>
            <a:endParaRPr lang="en-US" altLang="en-GB"/>
          </a:p>
          <a:p>
            <a:r>
              <a:rPr lang="en-US" altLang="en-GB"/>
              <a:t>The Objective</a:t>
            </a:r>
            <a:endParaRPr lang="en-US" altLang="en-GB"/>
          </a:p>
          <a:p>
            <a:r>
              <a:rPr lang="en-US" altLang="en-GB"/>
              <a:t>Build an AI-powered Multi-Agent Legal Aid System that can:</a:t>
            </a:r>
            <a:endParaRPr lang="en-US" altLang="en-GB"/>
          </a:p>
          <a:p>
            <a:r>
              <a:rPr lang="en-US" altLang="en-GB"/>
              <a:t>1.Legal Information Retrieval (RAG) – Use Retrieval-Augmented Generation to extract and summarize relevant laws, precedents, and compliance rules from large legal corpora.</a:t>
            </a:r>
            <a:endParaRPr lang="en-US" altLang="en-GB"/>
          </a:p>
          <a:p>
            <a:r>
              <a:rPr lang="en-US" altLang="en-GB"/>
              <a:t>2.Document Parsing &amp; Analysis – Automatically analyze contracts, policies, and notices to highlight key clauses, obligations, and potential risks.</a:t>
            </a:r>
            <a:endParaRPr lang="en-US" altLang="en-GB"/>
          </a:p>
          <a:p>
            <a:r>
              <a:rPr lang="en-US" altLang="en-GB"/>
              <a:t>3.Conversational Legal Assistant – Provide empathetic, easy-to-understand explanations of legal concepts through natural dialogue (with disclaimers: not a substitute for a lawyer).</a:t>
            </a:r>
            <a:endParaRPr lang="en-US" altLang="en-GB"/>
          </a:p>
          <a:p>
            <a:r>
              <a:rPr lang="en-US" altLang="en-GB"/>
              <a:t>4.Specialized Multi-Agents –</a:t>
            </a:r>
            <a:endParaRPr lang="en-US" altLang="en-GB"/>
          </a:p>
          <a:p>
            <a:r>
              <a:rPr lang="en-US" altLang="en-GB"/>
              <a:t>•Contract Reviewer Agent: Flag risks and inconsistencies.</a:t>
            </a:r>
            <a:endParaRPr lang="en-US" altLang="en-GB"/>
          </a:p>
          <a:p>
            <a:r>
              <a:rPr lang="en-US" altLang="en-GB"/>
              <a:t>•Compliance Checker Agent: Verify adherence to rules/regulations.</a:t>
            </a:r>
            <a:endParaRPr lang="en-US" altLang="en-GB"/>
          </a:p>
          <a:p>
            <a:r>
              <a:rPr lang="en-US" altLang="en-GB"/>
              <a:t>•Q&amp;A RAG Agent: Answer user-specific queries.</a:t>
            </a:r>
            <a:endParaRPr lang="en-US" altLang="en-GB"/>
          </a:p>
          <a:p>
            <a:r>
              <a:rPr lang="en-US" altLang="en-GB"/>
              <a:t>•Case Research Agent: Fetch relevant judgments or case summaries.</a:t>
            </a:r>
            <a:endParaRPr lang="en-US" altLang="en-GB"/>
          </a:p>
          <a:p>
            <a:endParaRPr lang="en-US" altLang="en-GB"/>
          </a:p>
          <a:p>
            <a:r>
              <a:rPr lang="en-US" altLang="en-GB"/>
              <a:t>5.User-Friendly Dashboard – Deliver recommendations, case insights, and document highlights in a structured, visual format.</a:t>
            </a:r>
            <a:endParaRPr lang="en-US" altLang="en-GB"/>
          </a:p>
          <a:p>
            <a:r>
              <a:rPr lang="en-US" altLang="en-GB"/>
              <a:t>Tech Stack (Mandatory)</a:t>
            </a:r>
            <a:endParaRPr lang="en-US" altLang="en-GB"/>
          </a:p>
          <a:p>
            <a:r>
              <a:rPr lang="en-US" altLang="en-GB"/>
              <a:t>•IBM Langflow / IBM Orchestrate + IBM Models</a:t>
            </a:r>
            <a:endParaRPr lang="en-US" altLang="en-GB"/>
          </a:p>
          <a:p>
            <a:endParaRPr lang="en-US" altLang="en-GB"/>
          </a:p>
        </p:txBody>
      </p:sp>
      <p:sp>
        <p:nvSpPr>
          <p:cNvPr id="3" name="TextBox 2"/>
          <p:cNvSpPr txBox="1"/>
          <p:nvPr/>
        </p:nvSpPr>
        <p:spPr>
          <a:xfrm>
            <a:off x="576072" y="704088"/>
            <a:ext cx="7214616" cy="461665"/>
          </a:xfrm>
          <a:prstGeom prst="rect">
            <a:avLst/>
          </a:prstGeom>
          <a:noFill/>
        </p:spPr>
        <p:txBody>
          <a:bodyPr wrap="square" rtlCol="0">
            <a:spAutoFit/>
          </a:bodyPr>
          <a:lstStyle/>
          <a:p>
            <a:r>
              <a:rPr lang="en-US" sz="2400" b="1"/>
              <a:t>Proposed Solution -</a:t>
            </a:r>
            <a:endParaRPr lang="en-IN" sz="2400" b="1"/>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 name="TextBox 1"/>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p:cNvSpPr txBox="1"/>
          <p:nvPr/>
        </p:nvSpPr>
        <p:spPr>
          <a:xfrm>
            <a:off x="777240" y="1207008"/>
            <a:ext cx="10515600" cy="4399915"/>
          </a:xfrm>
          <a:prstGeom prst="rect">
            <a:avLst/>
          </a:prstGeom>
          <a:noFill/>
        </p:spPr>
        <p:txBody>
          <a:bodyPr wrap="square" rtlCol="0">
            <a:spAutoFit/>
          </a:bodyPr>
          <a:lstStyle/>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a:t>
            </a:r>
            <a:r>
              <a:rPr lang="en-US" sz="1800" b="1" err="1"/>
              <a:t>Grainte</a:t>
            </a:r>
            <a:r>
              <a:rPr lang="en-US" sz="1800" b="1"/>
              <a:t> model </a:t>
            </a:r>
            <a:r>
              <a:rPr lang="en-US" sz="1800"/>
              <a:t>-  for </a:t>
            </a:r>
            <a:r>
              <a:rPr lang="en-US" sz="1800" err="1"/>
              <a:t>eg</a:t>
            </a:r>
            <a:r>
              <a:rPr lang="en-US" sz="1800"/>
              <a:t> – ibm-granite-3-2-8b – For natural language understanding, reasoning, and personalization</a:t>
            </a: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Cloud </a:t>
            </a:r>
            <a:r>
              <a:rPr lang="en-US" sz="1800"/>
              <a:t>– It provides the infrastructure to build, deploy, and scale the Nutrition Agent efficiently. IBM Cloud enables a </a:t>
            </a:r>
            <a:r>
              <a:rPr lang="en-US" sz="1800" b="1"/>
              <a:t>reliable, secure, and scalable environment</a:t>
            </a:r>
            <a:r>
              <a:rPr lang="en-US" sz="1800"/>
              <a:t> for deploying the Nutrition Agent.</a:t>
            </a: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RAG– </a:t>
            </a:r>
            <a:r>
              <a:rPr lang="en-US" sz="1800"/>
              <a:t>RAG to </a:t>
            </a:r>
            <a:r>
              <a:rPr lang="en-US" sz="1800" b="1"/>
              <a:t>fetch real data first, then generate intelligent answers</a:t>
            </a:r>
            <a:r>
              <a:rPr lang="en-US" sz="1800"/>
              <a:t>, making the Nutrition Agent more trustworthy and effective.</a:t>
            </a: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r>
              <a:rPr lang="en-US" sz="1800" b="1"/>
              <a:t>IBM Watsonx.ai - </a:t>
            </a:r>
            <a:r>
              <a:rPr lang="en-US" sz="1800"/>
              <a:t>For model deployment, embeddings, and AI governance</a:t>
            </a:r>
            <a:endParaRPr lang="en-US" sz="1800"/>
          </a:p>
          <a:p>
            <a:pPr marL="285750" indent="-285750">
              <a:buFont typeface="Arial" panose="020B0604020202020204" pitchFamily="34" charset="0"/>
              <a:buChar char="•"/>
            </a:pPr>
            <a:endParaRPr lang="en-US" sz="1800"/>
          </a:p>
          <a:p>
            <a:pPr marL="285750" indent="-285750">
              <a:buFont typeface="Arial" panose="020B0604020202020204" pitchFamily="34" charset="0"/>
              <a:buChar char="•"/>
            </a:pPr>
            <a:endParaRPr lang="en-US" sz="1800"/>
          </a:p>
          <a:p>
            <a:endParaRPr lang="en-US"/>
          </a:p>
          <a:p>
            <a:endParaRPr lang="en-IN"/>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pic>
        <p:nvPicPr>
          <p:cNvPr id="196" name="Google Shape;196;p9"/>
          <p:cNvPicPr preferRelativeResize="0"/>
          <p:nvPr/>
        </p:nvPicPr>
        <p:blipFill rotWithShape="1">
          <a:blip r:embed="rId1"/>
          <a:srcRect/>
          <a:stretch>
            <a:fillRect/>
          </a:stretch>
        </p:blipFill>
        <p:spPr>
          <a:xfrm>
            <a:off x="8371985" y="1167493"/>
            <a:ext cx="3015343" cy="4523014"/>
          </a:xfrm>
          <a:prstGeom prst="rect">
            <a:avLst/>
          </a:prstGeom>
          <a:noFill/>
          <a:ln>
            <a:noFill/>
          </a:ln>
        </p:spPr>
      </p:pic>
      <p:sp>
        <p:nvSpPr>
          <p:cNvPr id="2" name="TextBox 1"/>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p:cNvSpPr txBox="1"/>
          <p:nvPr/>
        </p:nvSpPr>
        <p:spPr>
          <a:xfrm>
            <a:off x="621792" y="1167493"/>
            <a:ext cx="7406640" cy="3107690"/>
          </a:xfrm>
          <a:prstGeom prst="rect">
            <a:avLst/>
          </a:prstGeom>
          <a:noFill/>
        </p:spPr>
        <p:txBody>
          <a:bodyPr wrap="square" rtlCol="0">
            <a:spAutoFit/>
          </a:bodyPr>
          <a:lstStyle/>
          <a:p>
            <a:r>
              <a:rPr lang="en-US" b="1"/>
              <a:t>Role of Agentic </a:t>
            </a:r>
            <a:r>
              <a:rPr lang="en-US" altLang="en-GB"/>
              <a:t>AI Legal Aid Multi-Agent System</a:t>
            </a:r>
            <a:endParaRPr lang="en-US" altLang="en-GB"/>
          </a:p>
          <a:p>
            <a:endParaRPr lang="en-US" altLang="en-GB"/>
          </a:p>
          <a:p>
            <a:pPr algn="just">
              <a:lnSpc>
                <a:spcPct val="150000"/>
              </a:lnSpc>
            </a:pPr>
            <a:r>
              <a:rPr lang="en-US" altLang="en-GB"/>
              <a:t>Agentic AI acts as the central coordinator of an AI Legal Aid Multi-Agent System, managing specialized AI agents to solve legal queries efficiently. It analyzes user requests, assigns tasks such as legal research, document analysis, risk assessment, and recommendation generation to the appropriate agents, and combines their outputs into a clear response. It also automates legal workflows, retrieves relevant legal information, personalizes assistance based on the user's situation, and monitors ongoing tasks. For complex or high-risk cases, it can escalate the matter to human legal professionals. Overall, Agentic AI improves the accuracy, efficiency, scalability, and accessibility of legal aid services.</a:t>
            </a:r>
            <a:endParaRPr lang="en-US" altLang="en-GB"/>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2057477" y="133915"/>
            <a:ext cx="6444496" cy="704017"/>
          </a:xfrm>
          <a:prstGeom prst="rect">
            <a:avLst/>
          </a:prstGeom>
          <a:noFill/>
          <a:ln>
            <a:noFill/>
          </a:ln>
        </p:spPr>
        <p:txBody>
          <a:bodyPr spcFirstLastPara="1" wrap="square" lIns="0" tIns="0" rIns="0" bIns="0" anchor="t" anchorCtr="0">
            <a:noAutofit/>
          </a:bodyPr>
          <a:lstStyle/>
          <a:p>
            <a:pPr algn="ctr">
              <a:lnSpc>
                <a:spcPct val="157000"/>
              </a:lnSpc>
              <a:buClr>
                <a:srgbClr val="051D3A"/>
              </a:buClr>
              <a:buSzPts val="3500"/>
            </a:pPr>
            <a:r>
              <a:rPr lang="en-US" sz="2400" b="1">
                <a:sym typeface="Times New Roman" panose="02020603050405020304"/>
              </a:rPr>
              <a:t>Project Output Screen Shot</a:t>
            </a:r>
            <a:endParaRPr sz="2400" b="1">
              <a:sym typeface="Times New Roman" panose="02020603050405020304"/>
            </a:endParaRP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3" name="Picture 2" descr="Screenshot 2026-07-16 141852"/>
          <p:cNvPicPr>
            <a:picLocks noChangeAspect="1"/>
          </p:cNvPicPr>
          <p:nvPr/>
        </p:nvPicPr>
        <p:blipFill>
          <a:blip r:embed="rId1"/>
          <a:stretch>
            <a:fillRect/>
          </a:stretch>
        </p:blipFill>
        <p:spPr>
          <a:xfrm>
            <a:off x="609600" y="838200"/>
            <a:ext cx="10456545" cy="5194935"/>
          </a:xfrm>
          <a:prstGeom prst="rect">
            <a:avLst/>
          </a:prstGeom>
        </p:spPr>
      </p:pic>
      <p:sp>
        <p:nvSpPr>
          <p:cNvPr id="4" name="Text Box 3"/>
          <p:cNvSpPr txBox="1"/>
          <p:nvPr/>
        </p:nvSpPr>
        <p:spPr>
          <a:xfrm>
            <a:off x="6322060" y="479425"/>
            <a:ext cx="4064000" cy="306705"/>
          </a:xfrm>
          <a:prstGeom prst="rect">
            <a:avLst/>
          </a:prstGeom>
          <a:noFill/>
        </p:spPr>
        <p:txBody>
          <a:bodyPr wrap="square" rtlCol="0">
            <a:spAutoFit/>
          </a:bodyPr>
          <a:p>
            <a:endParaRPr lang="en-GB"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2" name="Picture 1" descr="Screenshot 2026-07-16 142247"/>
          <p:cNvPicPr>
            <a:picLocks noChangeAspect="1"/>
          </p:cNvPicPr>
          <p:nvPr/>
        </p:nvPicPr>
        <p:blipFill>
          <a:blip r:embed="rId1"/>
          <a:stretch>
            <a:fillRect/>
          </a:stretch>
        </p:blipFill>
        <p:spPr>
          <a:xfrm>
            <a:off x="1231265" y="566420"/>
            <a:ext cx="10205720" cy="587311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pic>
        <p:nvPicPr>
          <p:cNvPr id="3" name="Picture 2" descr="Screenshot 2026-07-16 142638"/>
          <p:cNvPicPr>
            <a:picLocks noChangeAspect="1"/>
          </p:cNvPicPr>
          <p:nvPr/>
        </p:nvPicPr>
        <p:blipFill>
          <a:blip r:embed="rId1"/>
          <a:stretch>
            <a:fillRect/>
          </a:stretch>
        </p:blipFill>
        <p:spPr>
          <a:xfrm>
            <a:off x="59055" y="0"/>
            <a:ext cx="12122150" cy="66484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 name="TextBox 1"/>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p:cNvSpPr txBox="1"/>
          <p:nvPr/>
        </p:nvSpPr>
        <p:spPr>
          <a:xfrm>
            <a:off x="777240" y="1207008"/>
            <a:ext cx="11301984" cy="4799965"/>
          </a:xfrm>
          <a:prstGeom prst="rect">
            <a:avLst/>
          </a:prstGeom>
          <a:noFill/>
        </p:spPr>
        <p:txBody>
          <a:bodyPr wrap="square" rtlCol="0">
            <a:spAutoFit/>
          </a:bodyPr>
          <a:lstStyle/>
          <a:p>
            <a:r>
              <a:rPr lang="en-IN" sz="1800"/>
              <a:t>The proposed Nutrition Agent stands out by combining </a:t>
            </a:r>
            <a:r>
              <a:rPr lang="en-IN" sz="1800" b="1"/>
              <a:t>Agentic AI, RAG, and personalization</a:t>
            </a:r>
            <a:r>
              <a:rPr lang="en-IN" sz="1800"/>
              <a:t> into a single intelligent system.</a:t>
            </a:r>
            <a:endParaRPr lang="en-IN" sz="1800"/>
          </a:p>
          <a:p>
            <a:endParaRPr lang="en-IN" sz="1800"/>
          </a:p>
          <a:p>
            <a:pPr algn="l">
              <a:lnSpc>
                <a:spcPct val="100000"/>
              </a:lnSpc>
              <a:buSzTx/>
              <a:buChar char="•"/>
            </a:pPr>
            <a:r>
              <a:rPr lang="en-US" altLang="en-GB"/>
              <a:t> </a:t>
            </a:r>
            <a:r>
              <a:rPr lang="en-IN" sz="1800"/>
              <a:t>Multi-Agent Collaboration: Specialized AI agents work together to analyze legal queries and verify results.</a:t>
            </a:r>
            <a:endParaRPr lang="en-IN" sz="1800"/>
          </a:p>
          <a:p>
            <a:pPr algn="l">
              <a:lnSpc>
                <a:spcPct val="100000"/>
              </a:lnSpc>
              <a:buSzTx/>
              <a:buChar char="•"/>
            </a:pPr>
            <a:r>
              <a:rPr lang="en-IN" sz="1800"/>
              <a:t>RAG-Based Legal Retrieval: Retrieves accurate legal information with supporting laws, regulations, and case references.</a:t>
            </a:r>
            <a:endParaRPr lang="en-IN" sz="1800"/>
          </a:p>
          <a:p>
            <a:pPr algn="l">
              <a:lnSpc>
                <a:spcPct val="100000"/>
              </a:lnSpc>
              <a:buSzTx/>
              <a:buChar char="•"/>
            </a:pPr>
            <a:r>
              <a:rPr lang="en-IN" sz="1800"/>
              <a:t>Legal Risk Scoring: Assesses contracts and legal situations with clear risk levels and explanations.</a:t>
            </a:r>
            <a:endParaRPr lang="en-IN" sz="1800"/>
          </a:p>
          <a:p>
            <a:pPr algn="l">
              <a:lnSpc>
                <a:spcPct val="100000"/>
              </a:lnSpc>
              <a:buSzTx/>
              <a:buChar char="•"/>
            </a:pPr>
            <a:r>
              <a:rPr lang="en-IN" sz="1800"/>
              <a:t>Plain-Language Explanations: Converts complex legal terminology into simple, user-friendly language.</a:t>
            </a:r>
            <a:endParaRPr lang="en-IN" sz="1800"/>
          </a:p>
          <a:p>
            <a:pPr algn="l">
              <a:lnSpc>
                <a:spcPct val="100000"/>
              </a:lnSpc>
              <a:buSzTx/>
              <a:buChar char="•"/>
            </a:pPr>
            <a:r>
              <a:rPr lang="en-IN" sz="1800"/>
              <a:t>What-If Scenario Analysis: Simulates different legal outcomes based on changes in contracts or situations.</a:t>
            </a:r>
            <a:endParaRPr lang="en-IN" sz="1800"/>
          </a:p>
          <a:p>
            <a:pPr algn="l">
              <a:lnSpc>
                <a:spcPct val="100000"/>
              </a:lnSpc>
              <a:buSzTx/>
              <a:buChar char="•"/>
            </a:pPr>
            <a:r>
              <a:rPr lang="en-IN" sz="1800"/>
              <a:t>Jurisdiction-Aware Guidance: Provides recommendations based on applicable local laws and regulations.</a:t>
            </a:r>
            <a:endParaRPr lang="en-IN" sz="1800"/>
          </a:p>
          <a:p>
            <a:pPr algn="l">
              <a:lnSpc>
                <a:spcPct val="100000"/>
              </a:lnSpc>
              <a:buSzTx/>
              <a:buChar char="•"/>
            </a:pPr>
            <a:r>
              <a:rPr lang="en-IN" sz="1800"/>
              <a:t>Explainable AI: Shows how each AI agent contributed to the final recommendation.</a:t>
            </a:r>
            <a:endParaRPr lang="en-IN" sz="1800"/>
          </a:p>
          <a:p>
            <a:pPr algn="l">
              <a:lnSpc>
                <a:spcPct val="100000"/>
              </a:lnSpc>
              <a:buSzTx/>
              <a:buChar char="•"/>
            </a:pPr>
            <a:r>
              <a:rPr lang="en-IN" sz="1800"/>
              <a:t>Interactive Dashboard: Presents document highlights, risk assessments, case insights, and actionable recommendations.</a:t>
            </a:r>
            <a:endParaRPr lang="en-IN" sz="1800"/>
          </a:p>
          <a:p>
            <a:pPr algn="l">
              <a:lnSpc>
                <a:spcPct val="100000"/>
              </a:lnSpc>
              <a:buSzTx/>
              <a:buChar char="•"/>
            </a:pPr>
            <a:r>
              <a:rPr lang="en-IN" sz="1800"/>
              <a:t>Human Lawyer Escalation: Refers complex or high-risk cases to legal professionals with a summarized case report.</a:t>
            </a:r>
            <a:endParaRPr lang="en-IN" sz="1800"/>
          </a:p>
          <a:p>
            <a:pPr algn="l">
              <a:lnSpc>
                <a:spcPct val="100000"/>
              </a:lnSpc>
              <a:buSzTx/>
              <a:buChar char="•"/>
            </a:pPr>
            <a:r>
              <a:rPr lang="en-IN" sz="1800"/>
              <a:t>Accessible and Transparent: Makes legal assistance faster, more reliable, and easier for individuals and small businesses to understand.</a:t>
            </a:r>
            <a:endParaRPr lang="en-IN" sz="18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000"/>
              </a:lnSpc>
              <a:spcBef>
                <a:spcPts val="0"/>
              </a:spcBef>
              <a:spcAft>
                <a:spcPts val="0"/>
              </a:spcAft>
              <a:buClr>
                <a:srgbClr val="051D3A"/>
              </a:buClr>
              <a:buSzPts val="3500"/>
              <a:buFont typeface="Times New Roman" panose="02020603050405020304"/>
              <a:buNone/>
            </a:pPr>
            <a:r>
              <a:rPr lang="en-US" sz="2400" b="1">
                <a:sym typeface="Times New Roman" panose="02020603050405020304"/>
              </a:rPr>
              <a:t>Git Hub Link</a:t>
            </a:r>
            <a:endParaRPr sz="2400" b="1">
              <a:sym typeface="Times New Roman" panose="02020603050405020304"/>
            </a:endParaRPr>
          </a:p>
        </p:txBody>
      </p:sp>
      <p:sp>
        <p:nvSpPr>
          <p:cNvPr id="279" name="Google Shape;279;p18"/>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 name="Text Box 1"/>
          <p:cNvSpPr txBox="1"/>
          <p:nvPr/>
        </p:nvSpPr>
        <p:spPr>
          <a:xfrm>
            <a:off x="859790" y="2286000"/>
            <a:ext cx="9279890" cy="583565"/>
          </a:xfrm>
          <a:prstGeom prst="rect">
            <a:avLst/>
          </a:prstGeom>
          <a:noFill/>
        </p:spPr>
        <p:txBody>
          <a:bodyPr wrap="square" rtlCol="0" anchor="t">
            <a:spAutoFit/>
          </a:bodyPr>
          <a:p>
            <a:r>
              <a:rPr lang="en-US" altLang="en-GB" sz="3200"/>
              <a:t>https://github.com/drpavana2025-ctrl/IBM_project</a:t>
            </a:r>
            <a:endParaRPr lang="en-GB" altLang="en-US" sz="32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8" name="Google Shape;278;p18"/>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000"/>
              </a:lnSpc>
              <a:spcBef>
                <a:spcPts val="0"/>
              </a:spcBef>
              <a:spcAft>
                <a:spcPts val="0"/>
              </a:spcAft>
              <a:buClr>
                <a:srgbClr val="051D3A"/>
              </a:buClr>
              <a:buSzPts val="3500"/>
              <a:buFont typeface="Times New Roman" panose="02020603050405020304"/>
              <a:buNone/>
            </a:pPr>
            <a:r>
              <a:rPr lang="en-US" sz="2400" b="1">
                <a:sym typeface="Times New Roman" panose="02020603050405020304"/>
              </a:rPr>
              <a:t>Future Scope </a:t>
            </a:r>
            <a:endParaRPr sz="2400" b="1">
              <a:sym typeface="Times New Roman" panose="02020603050405020304"/>
            </a:endParaRPr>
          </a:p>
        </p:txBody>
      </p:sp>
      <p:sp>
        <p:nvSpPr>
          <p:cNvPr id="279" name="Google Shape;279;p18"/>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342900" marR="0" lvl="0" indent="-342900" algn="l" rtl="0">
              <a:lnSpc>
                <a:spcPct val="162000"/>
              </a:lnSpc>
              <a:spcBef>
                <a:spcPts val="0"/>
              </a:spcBef>
              <a:spcAft>
                <a:spcPts val="0"/>
              </a:spcAft>
              <a:buClr>
                <a:srgbClr val="2B3541"/>
              </a:buClr>
              <a:buSzPts val="1850"/>
              <a:buFont typeface="Arial" panose="020B0604020202020204" pitchFamily="34" charset="0"/>
              <a:buChar char="•"/>
            </a:pPr>
            <a:r>
              <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rPr>
              <a:t>Integrate with government legal portals and court databases for real-time legal information.</a:t>
            </a:r>
            <a:endPar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342900" marR="0" lvl="0" indent="-342900" algn="l" rtl="0">
              <a:lnSpc>
                <a:spcPct val="162000"/>
              </a:lnSpc>
              <a:spcBef>
                <a:spcPts val="0"/>
              </a:spcBef>
              <a:spcAft>
                <a:spcPts val="0"/>
              </a:spcAft>
              <a:buClr>
                <a:srgbClr val="2B3541"/>
              </a:buClr>
              <a:buSzPts val="1850"/>
              <a:buFont typeface="Arial" panose="020B0604020202020204" pitchFamily="34" charset="0"/>
              <a:buChar char="•"/>
            </a:pPr>
            <a:r>
              <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rPr>
              <a:t>Expand support to multiple jurisdictions and regional languages.</a:t>
            </a:r>
            <a:endPar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342900" marR="0" lvl="0" indent="-342900" algn="l" rtl="0">
              <a:lnSpc>
                <a:spcPct val="162000"/>
              </a:lnSpc>
              <a:spcBef>
                <a:spcPts val="0"/>
              </a:spcBef>
              <a:spcAft>
                <a:spcPts val="0"/>
              </a:spcAft>
              <a:buClr>
                <a:srgbClr val="2B3541"/>
              </a:buClr>
              <a:buSzPts val="1850"/>
              <a:buFont typeface="Arial" panose="020B0604020202020204" pitchFamily="34" charset="0"/>
              <a:buChar char="•"/>
            </a:pPr>
            <a:r>
              <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rPr>
              <a:t>Introduce voice-based legal assistance for improved accessibility.</a:t>
            </a:r>
            <a:endPar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342900" marR="0" lvl="0" indent="-342900" algn="l" rtl="0">
              <a:lnSpc>
                <a:spcPct val="162000"/>
              </a:lnSpc>
              <a:spcBef>
                <a:spcPts val="0"/>
              </a:spcBef>
              <a:spcAft>
                <a:spcPts val="0"/>
              </a:spcAft>
              <a:buClr>
                <a:srgbClr val="2B3541"/>
              </a:buClr>
              <a:buSzPts val="1850"/>
              <a:buFont typeface="Arial" panose="020B0604020202020204" pitchFamily="34" charset="0"/>
              <a:buChar char="•"/>
            </a:pPr>
            <a:r>
              <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rPr>
              <a:t>Enable predictive legal analytics for case outcome and risk estimation.</a:t>
            </a:r>
            <a:endPar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342900" marR="0" lvl="0" indent="-342900" algn="l" rtl="0">
              <a:lnSpc>
                <a:spcPct val="162000"/>
              </a:lnSpc>
              <a:spcBef>
                <a:spcPts val="0"/>
              </a:spcBef>
              <a:spcAft>
                <a:spcPts val="0"/>
              </a:spcAft>
              <a:buClr>
                <a:srgbClr val="2B3541"/>
              </a:buClr>
              <a:buSzPts val="1850"/>
              <a:buFont typeface="Arial" panose="020B0604020202020204" pitchFamily="34" charset="0"/>
              <a:buChar char="•"/>
            </a:pPr>
            <a:r>
              <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rPr>
              <a:t>Automate legal document generation and compliance reporting.</a:t>
            </a:r>
            <a:endPar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342900" marR="0" lvl="0" indent="-342900" algn="l" rtl="0">
              <a:lnSpc>
                <a:spcPct val="162000"/>
              </a:lnSpc>
              <a:spcBef>
                <a:spcPts val="0"/>
              </a:spcBef>
              <a:spcAft>
                <a:spcPts val="0"/>
              </a:spcAft>
              <a:buClr>
                <a:srgbClr val="2B3541"/>
              </a:buClr>
              <a:buSzPts val="1850"/>
              <a:buFont typeface="Arial" panose="020B0604020202020204" pitchFamily="34" charset="0"/>
              <a:buChar char="•"/>
            </a:pPr>
            <a:r>
              <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rPr>
              <a:t>Provide real-time updates on legal changes and regulations.</a:t>
            </a:r>
            <a:endPar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342900" marR="0" lvl="0" indent="-342900" algn="l" rtl="0">
              <a:lnSpc>
                <a:spcPct val="162000"/>
              </a:lnSpc>
              <a:spcBef>
                <a:spcPts val="0"/>
              </a:spcBef>
              <a:spcAft>
                <a:spcPts val="0"/>
              </a:spcAft>
              <a:buClr>
                <a:srgbClr val="2B3541"/>
              </a:buClr>
              <a:buSzPts val="1850"/>
              <a:buFont typeface="Arial" panose="020B0604020202020204" pitchFamily="34" charset="0"/>
              <a:buChar char="•"/>
            </a:pPr>
            <a:r>
              <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rPr>
              <a:t>Strengthen collaboration between AI agents and legal professionals.</a:t>
            </a:r>
            <a:endPar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342900" marR="0" lvl="0" indent="-342900" algn="l" rtl="0">
              <a:lnSpc>
                <a:spcPct val="162000"/>
              </a:lnSpc>
              <a:spcBef>
                <a:spcPts val="0"/>
              </a:spcBef>
              <a:spcAft>
                <a:spcPts val="0"/>
              </a:spcAft>
              <a:buClr>
                <a:srgbClr val="2B3541"/>
              </a:buClr>
              <a:buSzPts val="1850"/>
              <a:buFont typeface="Arial" panose="020B0604020202020204" pitchFamily="34" charset="0"/>
              <a:buChar char="•"/>
            </a:pPr>
            <a:r>
              <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rPr>
              <a:t>Develop a mobile application for on-the-go legal assistance.</a:t>
            </a:r>
            <a:endPar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342900" marR="0" lvl="0" indent="-342900" algn="l" rtl="0">
              <a:lnSpc>
                <a:spcPct val="162000"/>
              </a:lnSpc>
              <a:spcBef>
                <a:spcPts val="0"/>
              </a:spcBef>
              <a:spcAft>
                <a:spcPts val="0"/>
              </a:spcAft>
              <a:buClr>
                <a:srgbClr val="2B3541"/>
              </a:buClr>
              <a:buSzPts val="1850"/>
              <a:buFont typeface="Arial" panose="020B0604020202020204" pitchFamily="34" charset="0"/>
              <a:buChar char="•"/>
            </a:pPr>
            <a:r>
              <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rPr>
              <a:t>Enhance security and privacy for sensitive legal data.</a:t>
            </a:r>
            <a:endPar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a:p>
            <a:pPr marL="342900" marR="0" lvl="0" indent="-342900" algn="l" rtl="0">
              <a:lnSpc>
                <a:spcPct val="162000"/>
              </a:lnSpc>
              <a:spcBef>
                <a:spcPts val="0"/>
              </a:spcBef>
              <a:spcAft>
                <a:spcPts val="0"/>
              </a:spcAft>
              <a:buClr>
                <a:srgbClr val="2B3541"/>
              </a:buClr>
              <a:buSzPts val="1850"/>
              <a:buFont typeface="Arial" panose="020B0604020202020204" pitchFamily="34" charset="0"/>
              <a:buChar char="•"/>
            </a:pPr>
            <a:r>
              <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rPr>
              <a:t>Add court case tracking and e-signature integration for end-to-end legal support.</a:t>
            </a:r>
            <a:endParaRPr lang="en-US" altLang="en-GB"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0" name="Google Shape;280;p18"/>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1" name="Google Shape;281;p18"/>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r>
              <a:rPr lang="en-US" sz="1850" b="0" i="0" u="none" strike="noStrike" cap="none">
                <a:solidFill>
                  <a:srgbClr val="2B3541"/>
                </a:solidFill>
                <a:latin typeface="Times New Roman" panose="02020603050405020304"/>
                <a:ea typeface="Times New Roman" panose="02020603050405020304"/>
                <a:cs typeface="Times New Roman" panose="02020603050405020304"/>
                <a:sym typeface="Times New Roman" panose="02020603050405020304"/>
              </a:rPr>
              <a:t>·</a:t>
            </a: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
        <p:nvSpPr>
          <p:cNvPr id="282" name="Google Shape;282;p18"/>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000"/>
              </a:lnSpc>
              <a:spcBef>
                <a:spcPts val="0"/>
              </a:spcBef>
              <a:spcAft>
                <a:spcPts val="0"/>
              </a:spcAft>
              <a:buClr>
                <a:srgbClr val="2B3541"/>
              </a:buClr>
              <a:buSzPts val="1850"/>
              <a:buFont typeface="Times New Roman" panose="02020603050405020304"/>
              <a:buNone/>
            </a:pPr>
            <a:endParaRPr sz="1850" b="0" i="0" u="none" strike="noStrike" cap="none">
              <a:solidFill>
                <a:srgbClr val="000000"/>
              </a:solidFill>
              <a:latin typeface="Times New Roman" panose="02020603050405020304"/>
              <a:ea typeface="Times New Roman" panose="02020603050405020304"/>
              <a:cs typeface="Times New Roman" panose="02020603050405020304"/>
              <a:sym typeface="Times New Roman" panose="02020603050405020304"/>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400" b="1"/>
              <a:t>Certificates Earned:</a:t>
            </a:r>
            <a:endParaRPr lang="en-US" sz="2400" b="1"/>
          </a:p>
          <a:p>
            <a:pPr algn="ctr"/>
            <a:endParaRPr lang="en-US"/>
          </a:p>
        </p:txBody>
      </p:sp>
      <p:sp>
        <p:nvSpPr>
          <p:cNvPr id="3" name="TextBox 2"/>
          <p:cNvSpPr txBox="1"/>
          <p:nvPr/>
        </p:nvSpPr>
        <p:spPr>
          <a:xfrm>
            <a:off x="552048" y="690061"/>
            <a:ext cx="6389965"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800" b="1"/>
              <a:t>Please  add your credly certificate </a:t>
            </a:r>
            <a:endParaRPr lang="en-US" sz="2800" b="1"/>
          </a:p>
        </p:txBody>
      </p:sp>
      <p:pic>
        <p:nvPicPr>
          <p:cNvPr id="2" name="Picture 1"/>
          <p:cNvPicPr>
            <a:picLocks noChangeAspect="1"/>
          </p:cNvPicPr>
          <p:nvPr/>
        </p:nvPicPr>
        <p:blipFill>
          <a:blip r:embed="rId1"/>
          <a:stretch>
            <a:fillRect/>
          </a:stretch>
        </p:blipFill>
        <p:spPr>
          <a:xfrm>
            <a:off x="1219200" y="1295400"/>
            <a:ext cx="8721090" cy="499745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400" b="1" i="0" u="none" strike="noStrike" baseline="0">
                <a:solidFill>
                  <a:srgbClr val="000000"/>
                </a:solidFill>
                <a:latin typeface="Arial" panose="020B0604020202020204"/>
              </a:rPr>
              <a:t>Certificates Earned:</a:t>
            </a:r>
            <a:r>
              <a:rPr sz="2400" b="0" i="0">
                <a:solidFill>
                  <a:srgbClr val="000000"/>
                </a:solidFill>
                <a:latin typeface="Arial" panose="020B0604020202020204"/>
                <a:ea typeface="Arial" panose="020B0604020202020204"/>
                <a:cs typeface="Arial" panose="020B0604020202020204"/>
              </a:rPr>
              <a:t>​</a:t>
            </a:r>
            <a:endParaRPr lang="en-US"/>
          </a:p>
          <a:p>
            <a:pPr algn="ctr"/>
            <a:endParaRPr lang="en-US"/>
          </a:p>
        </p:txBody>
      </p:sp>
      <p:sp>
        <p:nvSpPr>
          <p:cNvPr id="6" name="TextBox 5"/>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spAutoFit/>
          </a:bodyPr>
          <a:lstStyle/>
          <a:p>
            <a:r>
              <a:rPr lang="en-US" sz="2000" b="1"/>
              <a:t>Add your IBM BOB Certificate</a:t>
            </a:r>
            <a:endParaRPr lang="en-US" sz="2000" b="1"/>
          </a:p>
        </p:txBody>
      </p:sp>
      <p:pic>
        <p:nvPicPr>
          <p:cNvPr id="2" name="Picture 1"/>
          <p:cNvPicPr>
            <a:picLocks noChangeAspect="1"/>
          </p:cNvPicPr>
          <p:nvPr/>
        </p:nvPicPr>
        <p:blipFill>
          <a:blip r:embed="rId1"/>
          <a:stretch>
            <a:fillRect/>
          </a:stretch>
        </p:blipFill>
        <p:spPr>
          <a:xfrm>
            <a:off x="1903095" y="1429385"/>
            <a:ext cx="9688830" cy="473011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1"/>
          <a:srcRect/>
          <a:stretch>
            <a:fill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6311</Words>
  <Application>WPS Presentation</Application>
  <PresentationFormat>Widescreen</PresentationFormat>
  <Paragraphs>156</Paragraphs>
  <Slides>15</Slides>
  <Notes>13</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15</vt:i4>
      </vt:variant>
    </vt:vector>
  </HeadingPairs>
  <TitlesOfParts>
    <vt:vector size="24" baseType="lpstr">
      <vt:lpstr>Arial</vt:lpstr>
      <vt:lpstr>SimSun</vt:lpstr>
      <vt:lpstr>Wingdings</vt:lpstr>
      <vt:lpstr>Arial</vt:lpstr>
      <vt:lpstr>Calibri</vt:lpstr>
      <vt:lpstr>Times New Roman</vt:lpstr>
      <vt:lpstr>Microsoft YaHei</vt:lpstr>
      <vt:lpstr>Arial Unicode MS</vt:lpstr>
      <vt:lpstr>Office Theme</vt:lpstr>
      <vt:lpstr>IBM University Engagement Project Submission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KSSEM</cp:lastModifiedBy>
  <cp:revision>12</cp:revision>
  <dcterms:created xsi:type="dcterms:W3CDTF">2025-07-08T05:06:00Z</dcterms:created>
  <dcterms:modified xsi:type="dcterms:W3CDTF">2026-07-16T09:24:12Z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4906B0E011B2431B9816AC4A8F1FD6CA_13</vt:lpwstr>
  </property>
  <property fmtid="{D5CDD505-2E9C-101B-9397-08002B2CF9AE}" pid="3" name="KSOProductBuildVer">
    <vt:lpwstr>2057-12.2.0.23206</vt:lpwstr>
  </property>
</Properties>
</file>